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69E6B4-4191-4DA1-BE52-CB07AE73C981}" v="12" dt="2026-09-24T09:06:53.6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harshithasamudrala788@gmail.com" userId="28d42a6b8d779fe7" providerId="LiveId" clId="{7655A6C3-01EC-4D17-AC74-9584F6EDBBA0}"/>
    <pc:docChg chg="custSel addSld delSld modSld">
      <pc:chgData name="praharshithasamudrala788@gmail.com" userId="28d42a6b8d779fe7" providerId="LiveId" clId="{7655A6C3-01EC-4D17-AC74-9584F6EDBBA0}" dt="2026-09-24T09:28:15.778" v="712" actId="255"/>
      <pc:docMkLst>
        <pc:docMk/>
      </pc:docMkLst>
      <pc:sldChg chg="addSp delSp modSp mod modClrScheme chgLayout">
        <pc:chgData name="praharshithasamudrala788@gmail.com" userId="28d42a6b8d779fe7" providerId="LiveId" clId="{7655A6C3-01EC-4D17-AC74-9584F6EDBBA0}" dt="2026-09-24T09:26:27.219" v="705" actId="14100"/>
        <pc:sldMkLst>
          <pc:docMk/>
          <pc:sldMk cId="1664695204" sldId="256"/>
        </pc:sldMkLst>
        <pc:spChg chg="mod ord">
          <ac:chgData name="praharshithasamudrala788@gmail.com" userId="28d42a6b8d779fe7" providerId="LiveId" clId="{7655A6C3-01EC-4D17-AC74-9584F6EDBBA0}" dt="2026-09-24T09:26:27.219" v="705" actId="14100"/>
          <ac:spMkLst>
            <pc:docMk/>
            <pc:sldMk cId="1664695204" sldId="256"/>
            <ac:spMk id="2" creationId="{FBD27462-DB03-BFBB-D370-C08A882DE8ED}"/>
          </ac:spMkLst>
        </pc:spChg>
        <pc:spChg chg="add del mod ord">
          <ac:chgData name="praharshithasamudrala788@gmail.com" userId="28d42a6b8d779fe7" providerId="LiveId" clId="{7655A6C3-01EC-4D17-AC74-9584F6EDBBA0}" dt="2026-09-24T08:20:15.783" v="2" actId="478"/>
          <ac:spMkLst>
            <pc:docMk/>
            <pc:sldMk cId="1664695204" sldId="256"/>
            <ac:spMk id="4" creationId="{4E712A9B-F2EF-46C7-E8DC-9BDBAA6EA3B6}"/>
          </ac:spMkLst>
        </pc:spChg>
        <pc:spChg chg="add mod ord">
          <ac:chgData name="praharshithasamudrala788@gmail.com" userId="28d42a6b8d779fe7" providerId="LiveId" clId="{7655A6C3-01EC-4D17-AC74-9584F6EDBBA0}" dt="2026-09-24T09:26:05.696" v="704" actId="20577"/>
          <ac:spMkLst>
            <pc:docMk/>
            <pc:sldMk cId="1664695204" sldId="256"/>
            <ac:spMk id="5" creationId="{0AD3BE8C-F38F-CF46-DBFC-D428B20FFFF8}"/>
          </ac:spMkLst>
        </pc:spChg>
      </pc:sldChg>
      <pc:sldChg chg="addSp delSp modSp new del mod modClrScheme chgLayout">
        <pc:chgData name="praharshithasamudrala788@gmail.com" userId="28d42a6b8d779fe7" providerId="LiveId" clId="{7655A6C3-01EC-4D17-AC74-9584F6EDBBA0}" dt="2026-09-24T08:21:56.672" v="8" actId="2696"/>
        <pc:sldMkLst>
          <pc:docMk/>
          <pc:sldMk cId="323881319" sldId="257"/>
        </pc:sldMkLst>
        <pc:spChg chg="del mod ord">
          <ac:chgData name="praharshithasamudrala788@gmail.com" userId="28d42a6b8d779fe7" providerId="LiveId" clId="{7655A6C3-01EC-4D17-AC74-9584F6EDBBA0}" dt="2026-09-24T08:21:33.724" v="4" actId="700"/>
          <ac:spMkLst>
            <pc:docMk/>
            <pc:sldMk cId="323881319" sldId="257"/>
            <ac:spMk id="2" creationId="{957C93B6-6575-BED2-8DBA-C8DACEFB70E4}"/>
          </ac:spMkLst>
        </pc:spChg>
        <pc:spChg chg="del mod ord">
          <ac:chgData name="praharshithasamudrala788@gmail.com" userId="28d42a6b8d779fe7" providerId="LiveId" clId="{7655A6C3-01EC-4D17-AC74-9584F6EDBBA0}" dt="2026-09-24T08:21:33.724" v="4" actId="700"/>
          <ac:spMkLst>
            <pc:docMk/>
            <pc:sldMk cId="323881319" sldId="257"/>
            <ac:spMk id="3" creationId="{58E85A40-CC38-D496-6CDA-B7DD7E29D328}"/>
          </ac:spMkLst>
        </pc:spChg>
        <pc:spChg chg="add del mod ord">
          <ac:chgData name="praharshithasamudrala788@gmail.com" userId="28d42a6b8d779fe7" providerId="LiveId" clId="{7655A6C3-01EC-4D17-AC74-9584F6EDBBA0}" dt="2026-09-24T08:21:44.762" v="6" actId="478"/>
          <ac:spMkLst>
            <pc:docMk/>
            <pc:sldMk cId="323881319" sldId="257"/>
            <ac:spMk id="4" creationId="{0237D42A-EBE9-17A6-568E-7CF7DDBA6A0A}"/>
          </ac:spMkLst>
        </pc:spChg>
        <pc:spChg chg="add del mod ord">
          <ac:chgData name="praharshithasamudrala788@gmail.com" userId="28d42a6b8d779fe7" providerId="LiveId" clId="{7655A6C3-01EC-4D17-AC74-9584F6EDBBA0}" dt="2026-09-24T08:21:39.315" v="5" actId="478"/>
          <ac:spMkLst>
            <pc:docMk/>
            <pc:sldMk cId="323881319" sldId="257"/>
            <ac:spMk id="5" creationId="{41674C50-B99E-6406-0419-026971859BF5}"/>
          </ac:spMkLst>
        </pc:spChg>
        <pc:spChg chg="add mod ord">
          <ac:chgData name="praharshithasamudrala788@gmail.com" userId="28d42a6b8d779fe7" providerId="LiveId" clId="{7655A6C3-01EC-4D17-AC74-9584F6EDBBA0}" dt="2026-09-24T08:21:47.772" v="7" actId="14100"/>
          <ac:spMkLst>
            <pc:docMk/>
            <pc:sldMk cId="323881319" sldId="257"/>
            <ac:spMk id="6" creationId="{31936A70-31B4-0C3D-41FB-C6051A61B6C3}"/>
          </ac:spMkLst>
        </pc:spChg>
      </pc:sldChg>
      <pc:sldChg chg="addSp delSp modSp new mod modClrScheme chgLayout">
        <pc:chgData name="praharshithasamudrala788@gmail.com" userId="28d42a6b8d779fe7" providerId="LiveId" clId="{7655A6C3-01EC-4D17-AC74-9584F6EDBBA0}" dt="2026-09-24T09:17:54.275" v="381" actId="255"/>
        <pc:sldMkLst>
          <pc:docMk/>
          <pc:sldMk cId="1885306629" sldId="257"/>
        </pc:sldMkLst>
        <pc:spChg chg="del">
          <ac:chgData name="praharshithasamudrala788@gmail.com" userId="28d42a6b8d779fe7" providerId="LiveId" clId="{7655A6C3-01EC-4D17-AC74-9584F6EDBBA0}" dt="2026-09-24T08:23:31.965" v="19" actId="700"/>
          <ac:spMkLst>
            <pc:docMk/>
            <pc:sldMk cId="1885306629" sldId="257"/>
            <ac:spMk id="2" creationId="{B6E16D07-857C-267A-65E4-59BE683F22E9}"/>
          </ac:spMkLst>
        </pc:spChg>
        <pc:spChg chg="del">
          <ac:chgData name="praharshithasamudrala788@gmail.com" userId="28d42a6b8d779fe7" providerId="LiveId" clId="{7655A6C3-01EC-4D17-AC74-9584F6EDBBA0}" dt="2026-09-24T08:23:31.965" v="19" actId="700"/>
          <ac:spMkLst>
            <pc:docMk/>
            <pc:sldMk cId="1885306629" sldId="257"/>
            <ac:spMk id="3" creationId="{129BF958-3989-C336-EA8C-6F07941E8CEE}"/>
          </ac:spMkLst>
        </pc:spChg>
        <pc:spChg chg="add mod">
          <ac:chgData name="praharshithasamudrala788@gmail.com" userId="28d42a6b8d779fe7" providerId="LiveId" clId="{7655A6C3-01EC-4D17-AC74-9584F6EDBBA0}" dt="2026-09-24T09:17:54.275" v="381" actId="255"/>
          <ac:spMkLst>
            <pc:docMk/>
            <pc:sldMk cId="1885306629" sldId="257"/>
            <ac:spMk id="5" creationId="{FED96BDF-D8CB-822C-907B-93EB8DB7E238}"/>
          </ac:spMkLst>
        </pc:spChg>
      </pc:sldChg>
      <pc:sldChg chg="addSp delSp modSp new del mod modClrScheme chgLayout">
        <pc:chgData name="praharshithasamudrala788@gmail.com" userId="28d42a6b8d779fe7" providerId="LiveId" clId="{7655A6C3-01EC-4D17-AC74-9584F6EDBBA0}" dt="2026-09-24T08:22:56.491" v="17" actId="2696"/>
        <pc:sldMkLst>
          <pc:docMk/>
          <pc:sldMk cId="3826891826" sldId="257"/>
        </pc:sldMkLst>
        <pc:spChg chg="del mod ord">
          <ac:chgData name="praharshithasamudrala788@gmail.com" userId="28d42a6b8d779fe7" providerId="LiveId" clId="{7655A6C3-01EC-4D17-AC74-9584F6EDBBA0}" dt="2026-09-24T08:22:21.092" v="10" actId="700"/>
          <ac:spMkLst>
            <pc:docMk/>
            <pc:sldMk cId="3826891826" sldId="257"/>
            <ac:spMk id="2" creationId="{59B0B0AD-7181-83B7-9D81-EBC83B01DA4E}"/>
          </ac:spMkLst>
        </pc:spChg>
        <pc:spChg chg="del">
          <ac:chgData name="praharshithasamudrala788@gmail.com" userId="28d42a6b8d779fe7" providerId="LiveId" clId="{7655A6C3-01EC-4D17-AC74-9584F6EDBBA0}" dt="2026-09-24T08:22:21.092" v="10" actId="700"/>
          <ac:spMkLst>
            <pc:docMk/>
            <pc:sldMk cId="3826891826" sldId="257"/>
            <ac:spMk id="3" creationId="{AFF78C22-95F1-72B9-F4F8-06C9CCC48A4E}"/>
          </ac:spMkLst>
        </pc:spChg>
        <pc:spChg chg="add mod ord">
          <ac:chgData name="praharshithasamudrala788@gmail.com" userId="28d42a6b8d779fe7" providerId="LiveId" clId="{7655A6C3-01EC-4D17-AC74-9584F6EDBBA0}" dt="2026-09-24T08:22:43.590" v="16" actId="14100"/>
          <ac:spMkLst>
            <pc:docMk/>
            <pc:sldMk cId="3826891826" sldId="257"/>
            <ac:spMk id="4" creationId="{B8EF23E4-AE4C-B17B-7EBD-F2D3F529FF8D}"/>
          </ac:spMkLst>
        </pc:spChg>
      </pc:sldChg>
      <pc:sldChg chg="addSp modSp new mod">
        <pc:chgData name="praharshithasamudrala788@gmail.com" userId="28d42a6b8d779fe7" providerId="LiveId" clId="{7655A6C3-01EC-4D17-AC74-9584F6EDBBA0}" dt="2026-09-24T09:19:04.793" v="387" actId="255"/>
        <pc:sldMkLst>
          <pc:docMk/>
          <pc:sldMk cId="21871683" sldId="258"/>
        </pc:sldMkLst>
        <pc:spChg chg="add mod">
          <ac:chgData name="praharshithasamudrala788@gmail.com" userId="28d42a6b8d779fe7" providerId="LiveId" clId="{7655A6C3-01EC-4D17-AC74-9584F6EDBBA0}" dt="2026-09-24T09:19:04.793" v="387" actId="255"/>
          <ac:spMkLst>
            <pc:docMk/>
            <pc:sldMk cId="21871683" sldId="258"/>
            <ac:spMk id="3" creationId="{0BCCFB0C-98E9-583B-1548-B55F575BA222}"/>
          </ac:spMkLst>
        </pc:spChg>
      </pc:sldChg>
      <pc:sldChg chg="addSp modSp new mod">
        <pc:chgData name="praharshithasamudrala788@gmail.com" userId="28d42a6b8d779fe7" providerId="LiveId" clId="{7655A6C3-01EC-4D17-AC74-9584F6EDBBA0}" dt="2026-09-24T09:27:08.998" v="709" actId="113"/>
        <pc:sldMkLst>
          <pc:docMk/>
          <pc:sldMk cId="2117319254" sldId="259"/>
        </pc:sldMkLst>
        <pc:spChg chg="add mod">
          <ac:chgData name="praharshithasamudrala788@gmail.com" userId="28d42a6b8d779fe7" providerId="LiveId" clId="{7655A6C3-01EC-4D17-AC74-9584F6EDBBA0}" dt="2026-09-24T09:27:08.998" v="709" actId="113"/>
          <ac:spMkLst>
            <pc:docMk/>
            <pc:sldMk cId="2117319254" sldId="259"/>
            <ac:spMk id="3" creationId="{B2A496F4-6EAF-B9EA-70FF-D86F2AA44C78}"/>
          </ac:spMkLst>
        </pc:spChg>
      </pc:sldChg>
      <pc:sldChg chg="addSp modSp new mod">
        <pc:chgData name="praharshithasamudrala788@gmail.com" userId="28d42a6b8d779fe7" providerId="LiveId" clId="{7655A6C3-01EC-4D17-AC74-9584F6EDBBA0}" dt="2026-09-24T08:50:24.545" v="182" actId="20577"/>
        <pc:sldMkLst>
          <pc:docMk/>
          <pc:sldMk cId="872240115" sldId="260"/>
        </pc:sldMkLst>
        <pc:spChg chg="add mod">
          <ac:chgData name="praharshithasamudrala788@gmail.com" userId="28d42a6b8d779fe7" providerId="LiveId" clId="{7655A6C3-01EC-4D17-AC74-9584F6EDBBA0}" dt="2026-09-24T08:50:24.545" v="182" actId="20577"/>
          <ac:spMkLst>
            <pc:docMk/>
            <pc:sldMk cId="872240115" sldId="260"/>
            <ac:spMk id="3" creationId="{D2784C5C-6D15-BD48-A66C-CED82E572413}"/>
          </ac:spMkLst>
        </pc:spChg>
      </pc:sldChg>
      <pc:sldChg chg="addSp modSp new mod">
        <pc:chgData name="praharshithasamudrala788@gmail.com" userId="28d42a6b8d779fe7" providerId="LiveId" clId="{7655A6C3-01EC-4D17-AC74-9584F6EDBBA0}" dt="2026-09-24T08:56:39.963" v="216" actId="20577"/>
        <pc:sldMkLst>
          <pc:docMk/>
          <pc:sldMk cId="4060015764" sldId="261"/>
        </pc:sldMkLst>
        <pc:spChg chg="add mod">
          <ac:chgData name="praharshithasamudrala788@gmail.com" userId="28d42a6b8d779fe7" providerId="LiveId" clId="{7655A6C3-01EC-4D17-AC74-9584F6EDBBA0}" dt="2026-09-24T08:56:39.963" v="216" actId="20577"/>
          <ac:spMkLst>
            <pc:docMk/>
            <pc:sldMk cId="4060015764" sldId="261"/>
            <ac:spMk id="3" creationId="{FDBC3CFB-CF49-67A3-4E97-AA8FDD2F9EF6}"/>
          </ac:spMkLst>
        </pc:spChg>
      </pc:sldChg>
      <pc:sldChg chg="addSp modSp new mod">
        <pc:chgData name="praharshithasamudrala788@gmail.com" userId="28d42a6b8d779fe7" providerId="LiveId" clId="{7655A6C3-01EC-4D17-AC74-9584F6EDBBA0}" dt="2026-09-24T08:54:51.393" v="198" actId="255"/>
        <pc:sldMkLst>
          <pc:docMk/>
          <pc:sldMk cId="1276466938" sldId="262"/>
        </pc:sldMkLst>
        <pc:spChg chg="add mod">
          <ac:chgData name="praharshithasamudrala788@gmail.com" userId="28d42a6b8d779fe7" providerId="LiveId" clId="{7655A6C3-01EC-4D17-AC74-9584F6EDBBA0}" dt="2026-09-24T08:54:51.393" v="198" actId="255"/>
          <ac:spMkLst>
            <pc:docMk/>
            <pc:sldMk cId="1276466938" sldId="262"/>
            <ac:spMk id="3" creationId="{6419A14E-86FE-9293-16C2-4365D23E0DC5}"/>
          </ac:spMkLst>
        </pc:spChg>
      </pc:sldChg>
      <pc:sldChg chg="addSp modSp new mod">
        <pc:chgData name="praharshithasamudrala788@gmail.com" userId="28d42a6b8d779fe7" providerId="LiveId" clId="{7655A6C3-01EC-4D17-AC74-9584F6EDBBA0}" dt="2026-09-24T08:58:59.705" v="243" actId="14100"/>
        <pc:sldMkLst>
          <pc:docMk/>
          <pc:sldMk cId="4165010861" sldId="263"/>
        </pc:sldMkLst>
        <pc:spChg chg="add mod">
          <ac:chgData name="praharshithasamudrala788@gmail.com" userId="28d42a6b8d779fe7" providerId="LiveId" clId="{7655A6C3-01EC-4D17-AC74-9584F6EDBBA0}" dt="2026-09-24T08:58:59.705" v="243" actId="14100"/>
          <ac:spMkLst>
            <pc:docMk/>
            <pc:sldMk cId="4165010861" sldId="263"/>
            <ac:spMk id="3" creationId="{367B3201-44CA-CFBE-566F-D2ED40E7495B}"/>
          </ac:spMkLst>
        </pc:spChg>
      </pc:sldChg>
      <pc:sldChg chg="addSp modSp new mod">
        <pc:chgData name="praharshithasamudrala788@gmail.com" userId="28d42a6b8d779fe7" providerId="LiveId" clId="{7655A6C3-01EC-4D17-AC74-9584F6EDBBA0}" dt="2026-09-24T09:01:15.904" v="253" actId="14100"/>
        <pc:sldMkLst>
          <pc:docMk/>
          <pc:sldMk cId="1359669819" sldId="264"/>
        </pc:sldMkLst>
        <pc:spChg chg="add mod">
          <ac:chgData name="praharshithasamudrala788@gmail.com" userId="28d42a6b8d779fe7" providerId="LiveId" clId="{7655A6C3-01EC-4D17-AC74-9584F6EDBBA0}" dt="2026-09-24T09:01:15.904" v="253" actId="14100"/>
          <ac:spMkLst>
            <pc:docMk/>
            <pc:sldMk cId="1359669819" sldId="264"/>
            <ac:spMk id="3" creationId="{A21ADA8D-DB1C-7EA6-504D-74DFA9D08F8E}"/>
          </ac:spMkLst>
        </pc:spChg>
      </pc:sldChg>
      <pc:sldChg chg="new del">
        <pc:chgData name="praharshithasamudrala788@gmail.com" userId="28d42a6b8d779fe7" providerId="LiveId" clId="{7655A6C3-01EC-4D17-AC74-9584F6EDBBA0}" dt="2026-09-24T08:57:16.858" v="223" actId="2696"/>
        <pc:sldMkLst>
          <pc:docMk/>
          <pc:sldMk cId="1805595317" sldId="264"/>
        </pc:sldMkLst>
      </pc:sldChg>
      <pc:sldChg chg="addSp modSp new mod">
        <pc:chgData name="praharshithasamudrala788@gmail.com" userId="28d42a6b8d779fe7" providerId="LiveId" clId="{7655A6C3-01EC-4D17-AC74-9584F6EDBBA0}" dt="2026-09-24T09:04:45.642" v="300" actId="20577"/>
        <pc:sldMkLst>
          <pc:docMk/>
          <pc:sldMk cId="2737031702" sldId="265"/>
        </pc:sldMkLst>
        <pc:spChg chg="add mod">
          <ac:chgData name="praharshithasamudrala788@gmail.com" userId="28d42a6b8d779fe7" providerId="LiveId" clId="{7655A6C3-01EC-4D17-AC74-9584F6EDBBA0}" dt="2026-09-24T09:04:45.642" v="300" actId="20577"/>
          <ac:spMkLst>
            <pc:docMk/>
            <pc:sldMk cId="2737031702" sldId="265"/>
            <ac:spMk id="3" creationId="{1A54464A-2B80-A82C-70E1-645544CCF786}"/>
          </ac:spMkLst>
        </pc:spChg>
      </pc:sldChg>
      <pc:sldChg chg="addSp modSp new mod">
        <pc:chgData name="praharshithasamudrala788@gmail.com" userId="28d42a6b8d779fe7" providerId="LiveId" clId="{7655A6C3-01EC-4D17-AC74-9584F6EDBBA0}" dt="2026-09-24T09:27:33.928" v="711" actId="20577"/>
        <pc:sldMkLst>
          <pc:docMk/>
          <pc:sldMk cId="919141877" sldId="266"/>
        </pc:sldMkLst>
        <pc:spChg chg="add mod">
          <ac:chgData name="praharshithasamudrala788@gmail.com" userId="28d42a6b8d779fe7" providerId="LiveId" clId="{7655A6C3-01EC-4D17-AC74-9584F6EDBBA0}" dt="2026-09-24T09:27:33.928" v="711" actId="20577"/>
          <ac:spMkLst>
            <pc:docMk/>
            <pc:sldMk cId="919141877" sldId="266"/>
            <ac:spMk id="3" creationId="{8A35DAF4-6808-CE61-507D-F68DAEE0541B}"/>
          </ac:spMkLst>
        </pc:spChg>
      </pc:sldChg>
      <pc:sldChg chg="addSp modSp new mod">
        <pc:chgData name="praharshithasamudrala788@gmail.com" userId="28d42a6b8d779fe7" providerId="LiveId" clId="{7655A6C3-01EC-4D17-AC74-9584F6EDBBA0}" dt="2026-09-24T09:05:53.832" v="306"/>
        <pc:sldMkLst>
          <pc:docMk/>
          <pc:sldMk cId="377824877" sldId="267"/>
        </pc:sldMkLst>
        <pc:spChg chg="add mod">
          <ac:chgData name="praharshithasamudrala788@gmail.com" userId="28d42a6b8d779fe7" providerId="LiveId" clId="{7655A6C3-01EC-4D17-AC74-9584F6EDBBA0}" dt="2026-09-24T09:05:53.832" v="306"/>
          <ac:spMkLst>
            <pc:docMk/>
            <pc:sldMk cId="377824877" sldId="267"/>
            <ac:spMk id="3" creationId="{90C28FE3-5183-B3F2-0630-20125B12228D}"/>
          </ac:spMkLst>
        </pc:spChg>
      </pc:sldChg>
      <pc:sldChg chg="addSp modSp new mod">
        <pc:chgData name="praharshithasamudrala788@gmail.com" userId="28d42a6b8d779fe7" providerId="LiveId" clId="{7655A6C3-01EC-4D17-AC74-9584F6EDBBA0}" dt="2026-09-24T09:06:53.648" v="313"/>
        <pc:sldMkLst>
          <pc:docMk/>
          <pc:sldMk cId="518858923" sldId="268"/>
        </pc:sldMkLst>
        <pc:spChg chg="add mod">
          <ac:chgData name="praharshithasamudrala788@gmail.com" userId="28d42a6b8d779fe7" providerId="LiveId" clId="{7655A6C3-01EC-4D17-AC74-9584F6EDBBA0}" dt="2026-09-24T09:06:53.648" v="313"/>
          <ac:spMkLst>
            <pc:docMk/>
            <pc:sldMk cId="518858923" sldId="268"/>
            <ac:spMk id="3" creationId="{B88802F8-8BE2-F53E-1D5F-96EA69545D44}"/>
          </ac:spMkLst>
        </pc:spChg>
      </pc:sldChg>
      <pc:sldChg chg="addSp delSp modSp new mod">
        <pc:chgData name="praharshithasamudrala788@gmail.com" userId="28d42a6b8d779fe7" providerId="LiveId" clId="{7655A6C3-01EC-4D17-AC74-9584F6EDBBA0}" dt="2026-09-24T09:15:33.345" v="369" actId="1076"/>
        <pc:sldMkLst>
          <pc:docMk/>
          <pc:sldMk cId="2918012768" sldId="269"/>
        </pc:sldMkLst>
        <pc:spChg chg="add mod">
          <ac:chgData name="praharshithasamudrala788@gmail.com" userId="28d42a6b8d779fe7" providerId="LiveId" clId="{7655A6C3-01EC-4D17-AC74-9584F6EDBBA0}" dt="2026-09-24T09:11:45.950" v="332" actId="255"/>
          <ac:spMkLst>
            <pc:docMk/>
            <pc:sldMk cId="2918012768" sldId="269"/>
            <ac:spMk id="5" creationId="{2DA6B31F-36AA-8D1F-D58E-89AEB19964A8}"/>
          </ac:spMkLst>
        </pc:spChg>
        <pc:picChg chg="add mod">
          <ac:chgData name="praharshithasamudrala788@gmail.com" userId="28d42a6b8d779fe7" providerId="LiveId" clId="{7655A6C3-01EC-4D17-AC74-9584F6EDBBA0}" dt="2026-09-24T09:15:33.345" v="369" actId="1076"/>
          <ac:picMkLst>
            <pc:docMk/>
            <pc:sldMk cId="2918012768" sldId="269"/>
            <ac:picMk id="3" creationId="{1D06E67B-C036-F8FF-8C0D-6F141E988B0A}"/>
          </ac:picMkLst>
        </pc:picChg>
        <pc:picChg chg="add del mod">
          <ac:chgData name="praharshithasamudrala788@gmail.com" userId="28d42a6b8d779fe7" providerId="LiveId" clId="{7655A6C3-01EC-4D17-AC74-9584F6EDBBA0}" dt="2026-09-24T09:14:41.087" v="355" actId="478"/>
          <ac:picMkLst>
            <pc:docMk/>
            <pc:sldMk cId="2918012768" sldId="269"/>
            <ac:picMk id="7" creationId="{6599809C-FAA2-BE75-7B12-C4F6992D55C5}"/>
          </ac:picMkLst>
        </pc:picChg>
      </pc:sldChg>
      <pc:sldChg chg="addSp modSp new mod">
        <pc:chgData name="praharshithasamudrala788@gmail.com" userId="28d42a6b8d779fe7" providerId="LiveId" clId="{7655A6C3-01EC-4D17-AC74-9584F6EDBBA0}" dt="2026-09-24T09:15:15.845" v="365" actId="14100"/>
        <pc:sldMkLst>
          <pc:docMk/>
          <pc:sldMk cId="1841759981" sldId="270"/>
        </pc:sldMkLst>
        <pc:picChg chg="add mod">
          <ac:chgData name="praharshithasamudrala788@gmail.com" userId="28d42a6b8d779fe7" providerId="LiveId" clId="{7655A6C3-01EC-4D17-AC74-9584F6EDBBA0}" dt="2026-09-24T09:15:06.971" v="363" actId="1076"/>
          <ac:picMkLst>
            <pc:docMk/>
            <pc:sldMk cId="1841759981" sldId="270"/>
            <ac:picMk id="3" creationId="{862CA1B2-3E1A-DE51-BC0A-5E07EC9AA365}"/>
          </ac:picMkLst>
        </pc:picChg>
        <pc:picChg chg="add mod">
          <ac:chgData name="praharshithasamudrala788@gmail.com" userId="28d42a6b8d779fe7" providerId="LiveId" clId="{7655A6C3-01EC-4D17-AC74-9584F6EDBBA0}" dt="2026-09-24T09:15:15.845" v="365" actId="14100"/>
          <ac:picMkLst>
            <pc:docMk/>
            <pc:sldMk cId="1841759981" sldId="270"/>
            <ac:picMk id="5" creationId="{F80E358D-2F69-CE3B-E4AB-21DD1487C640}"/>
          </ac:picMkLst>
        </pc:picChg>
      </pc:sldChg>
      <pc:sldChg chg="addSp modSp new mod">
        <pc:chgData name="praharshithasamudrala788@gmail.com" userId="28d42a6b8d779fe7" providerId="LiveId" clId="{7655A6C3-01EC-4D17-AC74-9584F6EDBBA0}" dt="2026-09-24T09:17:23.295" v="380" actId="255"/>
        <pc:sldMkLst>
          <pc:docMk/>
          <pc:sldMk cId="1547805881" sldId="271"/>
        </pc:sldMkLst>
        <pc:spChg chg="add mod">
          <ac:chgData name="praharshithasamudrala788@gmail.com" userId="28d42a6b8d779fe7" providerId="LiveId" clId="{7655A6C3-01EC-4D17-AC74-9584F6EDBBA0}" dt="2026-09-24T09:17:23.295" v="380" actId="255"/>
          <ac:spMkLst>
            <pc:docMk/>
            <pc:sldMk cId="1547805881" sldId="271"/>
            <ac:spMk id="3" creationId="{DF448395-C826-EA33-2E90-CB8C88A0F7FD}"/>
          </ac:spMkLst>
        </pc:spChg>
      </pc:sldChg>
      <pc:sldChg chg="addSp modSp new mod">
        <pc:chgData name="praharshithasamudrala788@gmail.com" userId="28d42a6b8d779fe7" providerId="LiveId" clId="{7655A6C3-01EC-4D17-AC74-9584F6EDBBA0}" dt="2026-09-24T09:20:16.164" v="396" actId="20577"/>
        <pc:sldMkLst>
          <pc:docMk/>
          <pc:sldMk cId="3201768244" sldId="272"/>
        </pc:sldMkLst>
        <pc:spChg chg="add mod">
          <ac:chgData name="praharshithasamudrala788@gmail.com" userId="28d42a6b8d779fe7" providerId="LiveId" clId="{7655A6C3-01EC-4D17-AC74-9584F6EDBBA0}" dt="2026-09-24T09:20:16.164" v="396" actId="20577"/>
          <ac:spMkLst>
            <pc:docMk/>
            <pc:sldMk cId="3201768244" sldId="272"/>
            <ac:spMk id="3" creationId="{CD08323B-E24B-E248-2A7E-AAA9BFB8DB0A}"/>
          </ac:spMkLst>
        </pc:spChg>
      </pc:sldChg>
      <pc:sldChg chg="addSp modSp new mod">
        <pc:chgData name="praharshithasamudrala788@gmail.com" userId="28d42a6b8d779fe7" providerId="LiveId" clId="{7655A6C3-01EC-4D17-AC74-9584F6EDBBA0}" dt="2026-09-24T09:21:26.984" v="402" actId="255"/>
        <pc:sldMkLst>
          <pc:docMk/>
          <pc:sldMk cId="2051648500" sldId="273"/>
        </pc:sldMkLst>
        <pc:spChg chg="add mod">
          <ac:chgData name="praharshithasamudrala788@gmail.com" userId="28d42a6b8d779fe7" providerId="LiveId" clId="{7655A6C3-01EC-4D17-AC74-9584F6EDBBA0}" dt="2026-09-24T09:21:26.984" v="402" actId="255"/>
          <ac:spMkLst>
            <pc:docMk/>
            <pc:sldMk cId="2051648500" sldId="273"/>
            <ac:spMk id="3" creationId="{CEEAA75A-329E-E84B-EE1D-398A134A71A2}"/>
          </ac:spMkLst>
        </pc:spChg>
      </pc:sldChg>
      <pc:sldChg chg="addSp modSp new mod">
        <pc:chgData name="praharshithasamudrala788@gmail.com" userId="28d42a6b8d779fe7" providerId="LiveId" clId="{7655A6C3-01EC-4D17-AC74-9584F6EDBBA0}" dt="2026-09-24T09:22:43.483" v="408" actId="255"/>
        <pc:sldMkLst>
          <pc:docMk/>
          <pc:sldMk cId="225481571" sldId="274"/>
        </pc:sldMkLst>
        <pc:spChg chg="add mod">
          <ac:chgData name="praharshithasamudrala788@gmail.com" userId="28d42a6b8d779fe7" providerId="LiveId" clId="{7655A6C3-01EC-4D17-AC74-9584F6EDBBA0}" dt="2026-09-24T09:22:43.483" v="408" actId="255"/>
          <ac:spMkLst>
            <pc:docMk/>
            <pc:sldMk cId="225481571" sldId="274"/>
            <ac:spMk id="3" creationId="{9A4909B9-1720-D532-A131-7A9FFD4B74C2}"/>
          </ac:spMkLst>
        </pc:spChg>
      </pc:sldChg>
      <pc:sldChg chg="addSp modSp new mod">
        <pc:chgData name="praharshithasamudrala788@gmail.com" userId="28d42a6b8d779fe7" providerId="LiveId" clId="{7655A6C3-01EC-4D17-AC74-9584F6EDBBA0}" dt="2026-09-24T09:28:15.778" v="712" actId="255"/>
        <pc:sldMkLst>
          <pc:docMk/>
          <pc:sldMk cId="1122334833" sldId="275"/>
        </pc:sldMkLst>
        <pc:spChg chg="add mod">
          <ac:chgData name="praharshithasamudrala788@gmail.com" userId="28d42a6b8d779fe7" providerId="LiveId" clId="{7655A6C3-01EC-4D17-AC74-9584F6EDBBA0}" dt="2026-09-24T09:28:15.778" v="712" actId="255"/>
          <ac:spMkLst>
            <pc:docMk/>
            <pc:sldMk cId="1122334833" sldId="275"/>
            <ac:spMk id="3" creationId="{B220E110-591D-8355-7826-2F867EE7EC6B}"/>
          </ac:spMkLst>
        </pc:spChg>
      </pc:sldChg>
      <pc:sldChg chg="addSp modSp new mod">
        <pc:chgData name="praharshithasamudrala788@gmail.com" userId="28d42a6b8d779fe7" providerId="LiveId" clId="{7655A6C3-01EC-4D17-AC74-9584F6EDBBA0}" dt="2026-09-24T09:24:23.280" v="419" actId="255"/>
        <pc:sldMkLst>
          <pc:docMk/>
          <pc:sldMk cId="1845281976" sldId="276"/>
        </pc:sldMkLst>
        <pc:spChg chg="add mod">
          <ac:chgData name="praharshithasamudrala788@gmail.com" userId="28d42a6b8d779fe7" providerId="LiveId" clId="{7655A6C3-01EC-4D17-AC74-9584F6EDBBA0}" dt="2026-09-24T09:24:23.280" v="419" actId="255"/>
          <ac:spMkLst>
            <pc:docMk/>
            <pc:sldMk cId="1845281976" sldId="276"/>
            <ac:spMk id="3" creationId="{80CD0467-AF93-9768-A391-A38A651B75C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7462-DB03-BFBB-D370-C08A882DE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868" y="875071"/>
            <a:ext cx="9592732" cy="3061929"/>
          </a:xfrm>
        </p:spPr>
        <p:txBody>
          <a:bodyPr>
            <a:normAutofit/>
          </a:bodyPr>
          <a:lstStyle/>
          <a:p>
            <a:br>
              <a:rPr lang="en-IN" sz="3600" b="1" dirty="0"/>
            </a:br>
            <a:br>
              <a:rPr lang="en-IN" sz="3600" b="1" dirty="0"/>
            </a:br>
            <a:br>
              <a:rPr lang="en-IN" sz="3600" b="1" dirty="0"/>
            </a:br>
            <a:r>
              <a:rPr lang="en-IN" sz="3600" b="1" dirty="0" err="1"/>
              <a:t>SwiftCart</a:t>
            </a:r>
            <a:r>
              <a:rPr lang="en-IN" sz="3600" b="1" dirty="0"/>
              <a:t> – E-Commerce Sales Analytics | Excel Dashboard &amp;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D3BE8C-F38F-CF46-DBFC-D428B20FF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69574" y="4343400"/>
            <a:ext cx="8527026" cy="553066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/>
              <a:t>                                                                                    Presented By: Samudrala Praharshitha</a:t>
            </a:r>
          </a:p>
        </p:txBody>
      </p:sp>
    </p:spTree>
    <p:extLst>
      <p:ext uri="{BB962C8B-B14F-4D97-AF65-F5344CB8AC3E}">
        <p14:creationId xmlns:p14="http://schemas.microsoft.com/office/powerpoint/2010/main" val="1664695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D96BDF-D8CB-822C-907B-93EB8DB7E238}"/>
              </a:ext>
            </a:extLst>
          </p:cNvPr>
          <p:cNvSpPr txBox="1"/>
          <p:nvPr/>
        </p:nvSpPr>
        <p:spPr>
          <a:xfrm>
            <a:off x="909484" y="1012722"/>
            <a:ext cx="1037303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Table of Contents</a:t>
            </a:r>
          </a:p>
          <a:p>
            <a:endParaRPr lang="en-IN" dirty="0"/>
          </a:p>
          <a:p>
            <a:r>
              <a:rPr lang="en-IN" sz="2000" b="1" dirty="0"/>
              <a:t>01 — Project Overview</a:t>
            </a:r>
          </a:p>
          <a:p>
            <a:br>
              <a:rPr lang="en-IN" sz="2000" dirty="0"/>
            </a:br>
            <a:r>
              <a:rPr lang="en-IN" sz="2000" b="1" dirty="0"/>
              <a:t>02 — Data Preparation</a:t>
            </a:r>
          </a:p>
          <a:p>
            <a:br>
              <a:rPr lang="en-IN" sz="2000" dirty="0"/>
            </a:br>
            <a:r>
              <a:rPr lang="en-IN" sz="2000" b="1" dirty="0"/>
              <a:t>03 — Sales &amp; Customer Analysis</a:t>
            </a:r>
          </a:p>
          <a:p>
            <a:br>
              <a:rPr lang="en-IN" sz="2000" dirty="0"/>
            </a:br>
            <a:r>
              <a:rPr lang="en-IN" sz="2000" b="1" dirty="0"/>
              <a:t>04 — Product, Channel &amp; Regional Analysis</a:t>
            </a:r>
          </a:p>
          <a:p>
            <a:br>
              <a:rPr lang="en-IN" sz="2000" dirty="0"/>
            </a:br>
            <a:r>
              <a:rPr lang="en-IN" sz="2000" b="1" dirty="0"/>
              <a:t>05 — Dashboard &amp; Business Insights</a:t>
            </a:r>
            <a:endParaRPr lang="en-IN" sz="2000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5306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CCFB0C-98E9-583B-1548-B55F575BA222}"/>
              </a:ext>
            </a:extLst>
          </p:cNvPr>
          <p:cNvSpPr txBox="1"/>
          <p:nvPr/>
        </p:nvSpPr>
        <p:spPr>
          <a:xfrm>
            <a:off x="904568" y="1101213"/>
            <a:ext cx="8947354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01.Project Overview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000" b="1" dirty="0" err="1"/>
              <a:t>SwiftCart</a:t>
            </a:r>
            <a:r>
              <a:rPr lang="en-IN" sz="2000" dirty="0"/>
              <a:t> is an e-commerce sales analysis project developed using Microsoft Excel.</a:t>
            </a:r>
          </a:p>
          <a:p>
            <a:pPr>
              <a:buNone/>
            </a:pPr>
            <a:r>
              <a:rPr lang="en-IN" sz="2000" dirty="0"/>
              <a:t>The project </a:t>
            </a:r>
            <a:r>
              <a:rPr lang="en-IN" sz="2000" dirty="0" err="1"/>
              <a:t>analyzes</a:t>
            </a:r>
            <a:r>
              <a:rPr lang="en-IN" sz="2000" dirty="0"/>
              <a:t>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Sales performance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Customer </a:t>
            </a:r>
            <a:r>
              <a:rPr lang="en-IN" sz="2000" dirty="0" err="1"/>
              <a:t>behavior</a:t>
            </a:r>
            <a:r>
              <a:rPr lang="en-IN" sz="2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Product performance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Sales channels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Regional performance </a:t>
            </a:r>
          </a:p>
          <a:p>
            <a:pPr lvl="0"/>
            <a:endParaRPr lang="en-IN" sz="2000" dirty="0"/>
          </a:p>
          <a:p>
            <a:pPr>
              <a:buNone/>
            </a:pPr>
            <a:r>
              <a:rPr lang="en-IN" sz="2000" b="1" dirty="0"/>
              <a:t>Final Output:</a:t>
            </a:r>
            <a:r>
              <a:rPr lang="en-IN" sz="2000" dirty="0"/>
              <a:t> Excel Dashboard with supporting analysis.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71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A496F4-6EAF-B9EA-70FF-D86F2AA44C78}"/>
              </a:ext>
            </a:extLst>
          </p:cNvPr>
          <p:cNvSpPr txBox="1"/>
          <p:nvPr/>
        </p:nvSpPr>
        <p:spPr>
          <a:xfrm>
            <a:off x="953729" y="983227"/>
            <a:ext cx="8357419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Business Objective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dirty="0"/>
              <a:t>• </a:t>
            </a:r>
            <a:r>
              <a:rPr lang="en-IN" sz="2000" dirty="0" err="1"/>
              <a:t>Analyze</a:t>
            </a:r>
            <a:r>
              <a:rPr lang="en-IN" sz="2000" dirty="0"/>
              <a:t> overall </a:t>
            </a:r>
            <a:r>
              <a:rPr lang="en-IN" sz="2000" b="1" dirty="0"/>
              <a:t>sales </a:t>
            </a:r>
            <a:r>
              <a:rPr lang="en-IN" sz="2000" dirty="0"/>
              <a:t>performance</a:t>
            </a:r>
            <a:br>
              <a:rPr lang="en-IN" sz="2000" dirty="0"/>
            </a:br>
            <a:r>
              <a:rPr lang="en-IN" sz="2000" dirty="0"/>
              <a:t>• Identify top-performing </a:t>
            </a:r>
            <a:r>
              <a:rPr lang="en-IN" sz="2000" b="1" dirty="0"/>
              <a:t>products and categories</a:t>
            </a:r>
            <a:br>
              <a:rPr lang="en-IN" sz="2000" dirty="0"/>
            </a:br>
            <a:r>
              <a:rPr lang="en-IN" sz="2000" dirty="0"/>
              <a:t>• Evaluate monthly </a:t>
            </a:r>
            <a:r>
              <a:rPr lang="en-IN" sz="2000" b="1" dirty="0"/>
              <a:t>sales trends</a:t>
            </a:r>
            <a:br>
              <a:rPr lang="en-IN" sz="2000" dirty="0"/>
            </a:br>
            <a:r>
              <a:rPr lang="en-IN" sz="2000" dirty="0"/>
              <a:t>• Understand customer purchasing patterns</a:t>
            </a:r>
            <a:br>
              <a:rPr lang="en-IN" sz="2000" dirty="0"/>
            </a:br>
            <a:r>
              <a:rPr lang="en-IN" sz="2000" dirty="0"/>
              <a:t>• Compare sales across </a:t>
            </a:r>
            <a:r>
              <a:rPr lang="en-IN" sz="2000" b="1" dirty="0"/>
              <a:t>different channels</a:t>
            </a:r>
            <a:br>
              <a:rPr lang="en-IN" sz="2000" dirty="0"/>
            </a:br>
            <a:r>
              <a:rPr lang="en-IN" sz="2000" dirty="0"/>
              <a:t>• </a:t>
            </a:r>
            <a:r>
              <a:rPr lang="en-IN" sz="2000" dirty="0" err="1"/>
              <a:t>Analyze</a:t>
            </a:r>
            <a:r>
              <a:rPr lang="en-IN" sz="2000" dirty="0"/>
              <a:t> state and regional performance</a:t>
            </a:r>
            <a:br>
              <a:rPr lang="en-IN" sz="2000" dirty="0"/>
            </a:br>
            <a:r>
              <a:rPr lang="en-IN" sz="2000" dirty="0"/>
              <a:t>• Examine </a:t>
            </a:r>
            <a:r>
              <a:rPr lang="en-IN" sz="2000" b="1" dirty="0"/>
              <a:t>B2B </a:t>
            </a:r>
            <a:r>
              <a:rPr lang="en-IN" sz="2000" dirty="0"/>
              <a:t>vs </a:t>
            </a:r>
            <a:r>
              <a:rPr lang="en-IN" sz="2000" b="1" dirty="0"/>
              <a:t>Non-B2B</a:t>
            </a:r>
            <a:r>
              <a:rPr lang="en-IN" sz="2000" dirty="0"/>
              <a:t> sales</a:t>
            </a:r>
            <a:br>
              <a:rPr lang="en-IN" sz="2000" dirty="0"/>
            </a:br>
            <a:r>
              <a:rPr lang="en-IN" sz="2000" dirty="0"/>
              <a:t>• Support business decision-making</a:t>
            </a:r>
            <a:br>
              <a:rPr lang="en-IN" sz="2000" dirty="0"/>
            </a:br>
            <a:r>
              <a:rPr lang="en-IN" sz="2000" dirty="0"/>
              <a:t>• Present findings through an </a:t>
            </a:r>
            <a:r>
              <a:rPr lang="en-IN" sz="2000" b="1" dirty="0"/>
              <a:t>Excel dashboard</a:t>
            </a:r>
          </a:p>
          <a:p>
            <a:pPr>
              <a:buNone/>
            </a:pPr>
            <a:endParaRPr lang="en-IN" sz="2000" b="1" dirty="0"/>
          </a:p>
          <a:p>
            <a:pPr>
              <a:buNone/>
            </a:pPr>
            <a:endParaRPr lang="en-IN" sz="24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7319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784C5C-6D15-BD48-A66C-CED82E572413}"/>
              </a:ext>
            </a:extLst>
          </p:cNvPr>
          <p:cNvSpPr txBox="1"/>
          <p:nvPr/>
        </p:nvSpPr>
        <p:spPr>
          <a:xfrm>
            <a:off x="943897" y="1170039"/>
            <a:ext cx="8849032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Dataset Overview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Project:</a:t>
            </a:r>
            <a:r>
              <a:rPr lang="en-IN" dirty="0"/>
              <a:t> </a:t>
            </a:r>
            <a:r>
              <a:rPr lang="en-IN" dirty="0" err="1"/>
              <a:t>SwiftCart</a:t>
            </a:r>
            <a:r>
              <a:rPr lang="en-IN" dirty="0"/>
              <a:t> E-Commerce Sales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Tool Used:</a:t>
            </a:r>
            <a:r>
              <a:rPr lang="en-IN" dirty="0"/>
              <a:t> Microsoft Excel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Data Type:</a:t>
            </a:r>
            <a:r>
              <a:rPr lang="en-IN" dirty="0"/>
              <a:t> E-commerce transaction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Records:</a:t>
            </a:r>
            <a:r>
              <a:rPr lang="en-IN" dirty="0"/>
              <a:t> </a:t>
            </a:r>
            <a:r>
              <a:rPr lang="en-IN" b="1" dirty="0"/>
              <a:t>31048+</a:t>
            </a:r>
            <a:r>
              <a:rPr lang="en-IN" dirty="0"/>
              <a:t> sales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Customer Information:</a:t>
            </a:r>
            <a:r>
              <a:rPr lang="en-IN" dirty="0"/>
              <a:t> Customer ID, Gender, Age Group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Product Information:</a:t>
            </a:r>
            <a:r>
              <a:rPr lang="en-IN" dirty="0"/>
              <a:t> SKU, Category, Quantity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Sales Information:</a:t>
            </a:r>
            <a:r>
              <a:rPr lang="en-IN" dirty="0"/>
              <a:t> Amount, Channel, Order Status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Location Information:</a:t>
            </a:r>
            <a:r>
              <a:rPr lang="en-IN" dirty="0"/>
              <a:t> State and Region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Customer Segment:</a:t>
            </a:r>
            <a:r>
              <a:rPr lang="en-IN" dirty="0"/>
              <a:t> B2B / Non-B2B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Purpose:</a:t>
            </a:r>
            <a:r>
              <a:rPr lang="en-IN" dirty="0"/>
              <a:t> To transform raw sales data into meaningful business insights using Excel.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2240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BC3CFB-CF49-67A3-4E97-AA8FDD2F9EF6}"/>
              </a:ext>
            </a:extLst>
          </p:cNvPr>
          <p:cNvSpPr txBox="1"/>
          <p:nvPr/>
        </p:nvSpPr>
        <p:spPr>
          <a:xfrm>
            <a:off x="1140542" y="1258529"/>
            <a:ext cx="875071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02.Data Cleaning &amp; Preparation</a:t>
            </a:r>
          </a:p>
          <a:p>
            <a:endParaRPr lang="en-IN" sz="2400" b="1" dirty="0"/>
          </a:p>
          <a:p>
            <a:r>
              <a:rPr lang="en-IN" dirty="0"/>
              <a:t>• Checked </a:t>
            </a:r>
            <a:r>
              <a:rPr lang="en-IN" b="1" dirty="0"/>
              <a:t>missing values</a:t>
            </a:r>
            <a:br>
              <a:rPr lang="en-IN" dirty="0"/>
            </a:br>
            <a:r>
              <a:rPr lang="en-IN" dirty="0"/>
              <a:t>• Checked and removed </a:t>
            </a:r>
            <a:r>
              <a:rPr lang="en-IN" b="1" dirty="0"/>
              <a:t>duplicate records</a:t>
            </a:r>
            <a:br>
              <a:rPr lang="en-IN" dirty="0"/>
            </a:br>
            <a:r>
              <a:rPr lang="en-IN" dirty="0"/>
              <a:t>• Corrected </a:t>
            </a:r>
            <a:r>
              <a:rPr lang="en-IN" b="1" dirty="0"/>
              <a:t>data types</a:t>
            </a:r>
            <a:br>
              <a:rPr lang="en-IN" dirty="0"/>
            </a:br>
            <a:r>
              <a:rPr lang="en-IN" dirty="0"/>
              <a:t>• Standardized </a:t>
            </a:r>
            <a:r>
              <a:rPr lang="en-IN" b="1" dirty="0"/>
              <a:t>category and status values</a:t>
            </a:r>
            <a:br>
              <a:rPr lang="en-IN" dirty="0"/>
            </a:br>
            <a:r>
              <a:rPr lang="en-IN" dirty="0"/>
              <a:t>• Checked </a:t>
            </a:r>
            <a:r>
              <a:rPr lang="en-IN" b="1" dirty="0"/>
              <a:t>invalid and inconsistent data</a:t>
            </a:r>
            <a:br>
              <a:rPr lang="en-IN" dirty="0"/>
            </a:br>
            <a:r>
              <a:rPr lang="en-IN" dirty="0"/>
              <a:t>• Prepared the dataset for </a:t>
            </a:r>
            <a:r>
              <a:rPr lang="en-IN" b="1" dirty="0"/>
              <a:t>Excel analysis</a:t>
            </a:r>
            <a:br>
              <a:rPr lang="en-IN" dirty="0"/>
            </a:br>
            <a:r>
              <a:rPr lang="en-IN" dirty="0"/>
              <a:t>• Created required </a:t>
            </a:r>
            <a:r>
              <a:rPr lang="en-IN" b="1" dirty="0"/>
              <a:t>calculated fields</a:t>
            </a:r>
            <a:endParaRPr lang="en-IN" dirty="0"/>
          </a:p>
          <a:p>
            <a:r>
              <a:rPr lang="en-IN" b="1" dirty="0"/>
              <a:t>Clean Data → Accurate Analysis → Reliable Insights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0015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19A14E-86FE-9293-16C2-4365D23E0DC5}"/>
              </a:ext>
            </a:extLst>
          </p:cNvPr>
          <p:cNvSpPr txBox="1"/>
          <p:nvPr/>
        </p:nvSpPr>
        <p:spPr>
          <a:xfrm>
            <a:off x="1120877" y="1337187"/>
            <a:ext cx="8032955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Key Performance Indicators (KPIs)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• </a:t>
            </a:r>
            <a:r>
              <a:rPr lang="en-IN" b="1" dirty="0"/>
              <a:t>Total Sales</a:t>
            </a:r>
            <a:r>
              <a:rPr lang="en-IN" dirty="0"/>
              <a:t> – Overall revenue generated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Total Quantity</a:t>
            </a:r>
            <a:r>
              <a:rPr lang="en-IN" dirty="0"/>
              <a:t> – Total number of products sold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Total Orders</a:t>
            </a:r>
            <a:r>
              <a:rPr lang="en-IN" dirty="0"/>
              <a:t> – Number of orders </a:t>
            </a:r>
            <a:r>
              <a:rPr lang="en-IN" dirty="0" err="1"/>
              <a:t>analyzed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Total Customers</a:t>
            </a:r>
            <a:r>
              <a:rPr lang="en-IN" dirty="0"/>
              <a:t> – Number of unique customers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Average Order Value</a:t>
            </a:r>
            <a:r>
              <a:rPr lang="en-IN" dirty="0"/>
              <a:t> – Average sales value per record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Delivered Orders</a:t>
            </a:r>
            <a:r>
              <a:rPr lang="en-IN" dirty="0"/>
              <a:t> – Successfully delivered orders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Cancelled Orders</a:t>
            </a:r>
            <a:r>
              <a:rPr lang="en-IN" dirty="0"/>
              <a:t> – Cancelled orders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KPIs provide a quick view of overall business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6466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7B3201-44CA-CFBE-566F-D2ED40E7495B}"/>
              </a:ext>
            </a:extLst>
          </p:cNvPr>
          <p:cNvSpPr txBox="1"/>
          <p:nvPr/>
        </p:nvSpPr>
        <p:spPr>
          <a:xfrm>
            <a:off x="835742" y="875071"/>
            <a:ext cx="9606116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03 — Sales &amp; Customer Analysis</a:t>
            </a:r>
          </a:p>
          <a:p>
            <a:r>
              <a:rPr lang="en-IN" dirty="0" err="1"/>
              <a:t>Analyzed</a:t>
            </a:r>
            <a:r>
              <a:rPr lang="en-IN" dirty="0"/>
              <a:t> </a:t>
            </a:r>
            <a:r>
              <a:rPr lang="en-IN" b="1" dirty="0"/>
              <a:t>total sales generated</a:t>
            </a:r>
            <a:r>
              <a:rPr lang="en-IN" dirty="0"/>
              <a:t> from all transactions</a:t>
            </a:r>
            <a:br>
              <a:rPr lang="en-IN" dirty="0"/>
            </a:br>
            <a:r>
              <a:rPr lang="en-IN" dirty="0"/>
              <a:t>• Calculated </a:t>
            </a:r>
            <a:r>
              <a:rPr lang="en-IN" b="1" dirty="0"/>
              <a:t>overall sales performance</a:t>
            </a:r>
            <a:r>
              <a:rPr lang="en-IN" dirty="0"/>
              <a:t> using Excel formulas</a:t>
            </a:r>
            <a:br>
              <a:rPr lang="en-IN" dirty="0"/>
            </a:br>
            <a:r>
              <a:rPr lang="en-IN" dirty="0"/>
              <a:t>• Compared sales across </a:t>
            </a:r>
            <a:r>
              <a:rPr lang="en-IN" b="1" dirty="0"/>
              <a:t>categories, channels and regions</a:t>
            </a:r>
            <a:br>
              <a:rPr lang="en-IN" dirty="0"/>
            </a:br>
            <a:r>
              <a:rPr lang="en-IN" dirty="0"/>
              <a:t>• Identified areas contributing the </a:t>
            </a:r>
            <a:r>
              <a:rPr lang="en-IN" b="1" dirty="0"/>
              <a:t>highest sales</a:t>
            </a:r>
            <a:br>
              <a:rPr lang="en-IN" dirty="0"/>
            </a:br>
            <a:r>
              <a:rPr lang="en-IN" dirty="0"/>
              <a:t>• Used PivotTables to summarize sales performance</a:t>
            </a:r>
            <a:br>
              <a:rPr lang="en-IN" dirty="0"/>
            </a:br>
            <a:r>
              <a:rPr lang="en-IN" dirty="0"/>
              <a:t>• Used charts to make sales patterns easier to understand</a:t>
            </a:r>
          </a:p>
          <a:p>
            <a:r>
              <a:rPr lang="en-IN" b="1" dirty="0"/>
              <a:t>Key focus:</a:t>
            </a:r>
            <a:r>
              <a:rPr lang="en-IN" dirty="0"/>
              <a:t> Understanding the overall sales performance of </a:t>
            </a:r>
            <a:r>
              <a:rPr lang="en-IN" dirty="0" err="1"/>
              <a:t>SwiftCart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sz="2400" b="1" dirty="0"/>
              <a:t>Monthly Sales Trend</a:t>
            </a:r>
            <a:endParaRPr lang="en-IN" b="1" dirty="0"/>
          </a:p>
          <a:p>
            <a:r>
              <a:rPr lang="en-IN" dirty="0"/>
              <a:t>• </a:t>
            </a:r>
            <a:r>
              <a:rPr lang="en-IN" dirty="0" err="1"/>
              <a:t>Analyzed</a:t>
            </a:r>
            <a:r>
              <a:rPr lang="en-IN" dirty="0"/>
              <a:t> </a:t>
            </a:r>
            <a:r>
              <a:rPr lang="en-IN" b="1" dirty="0"/>
              <a:t>monthly sales performance</a:t>
            </a:r>
            <a:br>
              <a:rPr lang="en-IN" dirty="0"/>
            </a:br>
            <a:r>
              <a:rPr lang="en-IN" dirty="0"/>
              <a:t>• Compared sales across different </a:t>
            </a:r>
            <a:r>
              <a:rPr lang="en-IN" b="1" dirty="0"/>
              <a:t>months</a:t>
            </a:r>
            <a:br>
              <a:rPr lang="en-IN" dirty="0"/>
            </a:br>
            <a:r>
              <a:rPr lang="en-IN" dirty="0"/>
              <a:t>• Identified months with </a:t>
            </a:r>
            <a:r>
              <a:rPr lang="en-IN" b="1" dirty="0"/>
              <a:t>higher and lower sales</a:t>
            </a:r>
            <a:br>
              <a:rPr lang="en-IN" dirty="0"/>
            </a:br>
            <a:r>
              <a:rPr lang="en-IN" dirty="0"/>
              <a:t>• Used a </a:t>
            </a:r>
            <a:r>
              <a:rPr lang="en-IN" b="1" dirty="0"/>
              <a:t>PivotTable</a:t>
            </a:r>
            <a:r>
              <a:rPr lang="en-IN" dirty="0"/>
              <a:t> to summarize monthly sales</a:t>
            </a:r>
            <a:br>
              <a:rPr lang="en-IN" dirty="0"/>
            </a:br>
            <a:r>
              <a:rPr lang="en-IN" dirty="0"/>
              <a:t>• Created a </a:t>
            </a:r>
            <a:r>
              <a:rPr lang="en-IN" b="1" dirty="0"/>
              <a:t>line chart</a:t>
            </a:r>
            <a:r>
              <a:rPr lang="en-IN" dirty="0"/>
              <a:t> to visualize the sales trend</a:t>
            </a:r>
            <a:br>
              <a:rPr lang="en-IN" dirty="0"/>
            </a:br>
            <a:r>
              <a:rPr lang="en-IN" dirty="0"/>
              <a:t>• Observed the overall </a:t>
            </a:r>
            <a:r>
              <a:rPr lang="en-IN" b="1" dirty="0"/>
              <a:t>sales movement over time</a:t>
            </a:r>
            <a:endParaRPr lang="en-IN" dirty="0"/>
          </a:p>
          <a:p>
            <a:r>
              <a:rPr lang="en-IN" b="1" dirty="0"/>
              <a:t>Key focus:</a:t>
            </a:r>
            <a:r>
              <a:rPr lang="en-IN" dirty="0"/>
              <a:t> Understanding how </a:t>
            </a:r>
            <a:r>
              <a:rPr lang="en-IN" dirty="0" err="1"/>
              <a:t>SwiftCart</a:t>
            </a:r>
            <a:r>
              <a:rPr lang="en-IN" dirty="0"/>
              <a:t> sales change month by month.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5010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1ADA8D-DB1C-7EA6-504D-74DFA9D08F8E}"/>
              </a:ext>
            </a:extLst>
          </p:cNvPr>
          <p:cNvSpPr txBox="1"/>
          <p:nvPr/>
        </p:nvSpPr>
        <p:spPr>
          <a:xfrm>
            <a:off x="835741" y="717755"/>
            <a:ext cx="9399639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Customer Analysis</a:t>
            </a:r>
          </a:p>
          <a:p>
            <a:pPr>
              <a:buNone/>
            </a:pPr>
            <a:r>
              <a:rPr lang="en-IN" dirty="0"/>
              <a:t>• </a:t>
            </a:r>
            <a:r>
              <a:rPr lang="en-IN" dirty="0" err="1"/>
              <a:t>Analyzed</a:t>
            </a:r>
            <a:r>
              <a:rPr lang="en-IN" dirty="0"/>
              <a:t> </a:t>
            </a:r>
            <a:r>
              <a:rPr lang="en-IN" b="1" dirty="0"/>
              <a:t>customer purchasing </a:t>
            </a:r>
            <a:r>
              <a:rPr lang="en-IN" b="1" dirty="0" err="1"/>
              <a:t>behavior</a:t>
            </a:r>
            <a:br>
              <a:rPr lang="en-IN" dirty="0"/>
            </a:br>
            <a:r>
              <a:rPr lang="en-IN" dirty="0"/>
              <a:t>• Compared customers based on </a:t>
            </a:r>
            <a:r>
              <a:rPr lang="en-IN" b="1" dirty="0"/>
              <a:t>sales and quantity</a:t>
            </a:r>
            <a:br>
              <a:rPr lang="en-IN" dirty="0"/>
            </a:br>
            <a:r>
              <a:rPr lang="en-IN" dirty="0"/>
              <a:t>• Identified </a:t>
            </a:r>
            <a:r>
              <a:rPr lang="en-IN" b="1" dirty="0"/>
              <a:t>high-value customers</a:t>
            </a:r>
            <a:br>
              <a:rPr lang="en-IN" dirty="0"/>
            </a:br>
            <a:r>
              <a:rPr lang="en-IN" dirty="0"/>
              <a:t>• Studied customer contribution to </a:t>
            </a:r>
            <a:r>
              <a:rPr lang="en-IN" b="1" dirty="0"/>
              <a:t>overall sales</a:t>
            </a:r>
            <a:br>
              <a:rPr lang="en-IN" dirty="0"/>
            </a:br>
            <a:r>
              <a:rPr lang="en-IN" dirty="0"/>
              <a:t>• Used </a:t>
            </a:r>
            <a:r>
              <a:rPr lang="en-IN" b="1" dirty="0"/>
              <a:t>PivotTables</a:t>
            </a:r>
            <a:r>
              <a:rPr lang="en-IN" dirty="0"/>
              <a:t> for customer-level analysis</a:t>
            </a:r>
            <a:br>
              <a:rPr lang="en-IN" dirty="0"/>
            </a:br>
            <a:r>
              <a:rPr lang="en-IN" dirty="0"/>
              <a:t>• Used the analysis to understand </a:t>
            </a:r>
            <a:r>
              <a:rPr lang="en-IN" b="1" dirty="0"/>
              <a:t>customer value and sales concentration</a:t>
            </a:r>
            <a:endParaRPr lang="en-IN" dirty="0"/>
          </a:p>
          <a:p>
            <a:pPr>
              <a:buNone/>
            </a:pPr>
            <a:r>
              <a:rPr lang="en-IN" b="1" dirty="0"/>
              <a:t>Key focus:</a:t>
            </a:r>
            <a:r>
              <a:rPr lang="en-IN" dirty="0"/>
              <a:t> Identifying important customers and understanding their contribution to </a:t>
            </a:r>
            <a:r>
              <a:rPr lang="en-IN" dirty="0" err="1"/>
              <a:t>SwiftCart</a:t>
            </a:r>
            <a:r>
              <a:rPr lang="en-IN" dirty="0"/>
              <a:t> sales.</a:t>
            </a:r>
          </a:p>
          <a:p>
            <a:pPr>
              <a:buNone/>
            </a:pPr>
            <a:endParaRPr lang="en-IN" dirty="0"/>
          </a:p>
          <a:p>
            <a:r>
              <a:rPr lang="en-IN" sz="2400" b="1" dirty="0"/>
              <a:t>Gender &amp; Age Group Analysis</a:t>
            </a:r>
          </a:p>
          <a:p>
            <a:r>
              <a:rPr lang="en-IN" b="1" dirty="0"/>
              <a:t>Customer Demographics</a:t>
            </a:r>
          </a:p>
          <a:p>
            <a:r>
              <a:rPr lang="en-IN" dirty="0"/>
              <a:t>• </a:t>
            </a:r>
            <a:r>
              <a:rPr lang="en-IN" dirty="0" err="1"/>
              <a:t>Analyzed</a:t>
            </a:r>
            <a:r>
              <a:rPr lang="en-IN" dirty="0"/>
              <a:t> sales based on </a:t>
            </a:r>
            <a:r>
              <a:rPr lang="en-IN" b="1" dirty="0"/>
              <a:t>gender</a:t>
            </a:r>
            <a:br>
              <a:rPr lang="en-IN" dirty="0"/>
            </a:br>
            <a:r>
              <a:rPr lang="en-IN" dirty="0"/>
              <a:t>• Compared sales across different </a:t>
            </a:r>
            <a:r>
              <a:rPr lang="en-IN" b="1" dirty="0"/>
              <a:t>age groups</a:t>
            </a:r>
            <a:br>
              <a:rPr lang="en-IN" dirty="0"/>
            </a:br>
            <a:r>
              <a:rPr lang="en-IN" dirty="0"/>
              <a:t>• Identified customer segments contributing to sales</a:t>
            </a:r>
            <a:br>
              <a:rPr lang="en-IN" dirty="0"/>
            </a:br>
            <a:r>
              <a:rPr lang="en-IN" dirty="0"/>
              <a:t>• Used </a:t>
            </a:r>
            <a:r>
              <a:rPr lang="en-IN" b="1" dirty="0"/>
              <a:t>PivotTables</a:t>
            </a:r>
            <a:r>
              <a:rPr lang="en-IN" dirty="0"/>
              <a:t> for demographic analysis</a:t>
            </a:r>
            <a:br>
              <a:rPr lang="en-IN" dirty="0"/>
            </a:br>
            <a:r>
              <a:rPr lang="en-IN" dirty="0"/>
              <a:t>• Created charts to compare </a:t>
            </a:r>
            <a:r>
              <a:rPr lang="en-IN" b="1" dirty="0"/>
              <a:t>gender and age-group performance</a:t>
            </a:r>
            <a:br>
              <a:rPr lang="en-IN" dirty="0"/>
            </a:br>
            <a:r>
              <a:rPr lang="en-IN" dirty="0"/>
              <a:t>• Observed differences in purchasing patterns across customer segments</a:t>
            </a:r>
          </a:p>
          <a:p>
            <a:r>
              <a:rPr lang="en-IN" b="1" dirty="0"/>
              <a:t>Key focus:</a:t>
            </a:r>
            <a:r>
              <a:rPr lang="en-IN" dirty="0"/>
              <a:t> Understanding customer demographics and their contribution to </a:t>
            </a:r>
            <a:r>
              <a:rPr lang="en-IN" dirty="0" err="1"/>
              <a:t>SwiftCart</a:t>
            </a:r>
            <a:r>
              <a:rPr lang="en-IN" dirty="0"/>
              <a:t> sales.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9669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54464A-2B80-A82C-70E1-645544CCF786}"/>
              </a:ext>
            </a:extLst>
          </p:cNvPr>
          <p:cNvSpPr txBox="1"/>
          <p:nvPr/>
        </p:nvSpPr>
        <p:spPr>
          <a:xfrm>
            <a:off x="875071" y="1524000"/>
            <a:ext cx="8278761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Order Status Analysis</a:t>
            </a:r>
          </a:p>
          <a:p>
            <a:pPr>
              <a:buNone/>
            </a:pPr>
            <a:r>
              <a:rPr lang="en-IN" dirty="0"/>
              <a:t>• </a:t>
            </a:r>
            <a:r>
              <a:rPr lang="en-IN" dirty="0" err="1"/>
              <a:t>Analyzed</a:t>
            </a:r>
            <a:r>
              <a:rPr lang="en-IN" dirty="0"/>
              <a:t> different </a:t>
            </a:r>
            <a:r>
              <a:rPr lang="en-IN" b="1" dirty="0"/>
              <a:t>order statuses</a:t>
            </a:r>
            <a:br>
              <a:rPr lang="en-IN" dirty="0"/>
            </a:br>
            <a:r>
              <a:rPr lang="en-IN" dirty="0"/>
              <a:t>• Compared the number of orders for each status</a:t>
            </a:r>
            <a:br>
              <a:rPr lang="en-IN" dirty="0"/>
            </a:br>
            <a:r>
              <a:rPr lang="en-IN" dirty="0"/>
              <a:t>• Identified the distribution of </a:t>
            </a:r>
            <a:r>
              <a:rPr lang="en-IN" b="1" dirty="0"/>
              <a:t>successful and unsuccessful orders</a:t>
            </a:r>
            <a:br>
              <a:rPr lang="en-IN" dirty="0"/>
            </a:br>
            <a:r>
              <a:rPr lang="en-IN" dirty="0"/>
              <a:t>• Used a </a:t>
            </a:r>
            <a:r>
              <a:rPr lang="en-IN" b="1" dirty="0"/>
              <a:t>PivotTable</a:t>
            </a:r>
            <a:r>
              <a:rPr lang="en-IN" dirty="0"/>
              <a:t> to summarize order status</a:t>
            </a:r>
            <a:br>
              <a:rPr lang="en-IN" dirty="0"/>
            </a:br>
            <a:r>
              <a:rPr lang="en-IN" dirty="0"/>
              <a:t>• Created a </a:t>
            </a:r>
            <a:r>
              <a:rPr lang="en-IN" b="1" dirty="0"/>
              <a:t>chart</a:t>
            </a:r>
            <a:r>
              <a:rPr lang="en-IN" dirty="0"/>
              <a:t> to visualize the status distribution</a:t>
            </a:r>
            <a:br>
              <a:rPr lang="en-IN" dirty="0"/>
            </a:br>
            <a:r>
              <a:rPr lang="en-IN" dirty="0"/>
              <a:t>• Used the results to understand </a:t>
            </a:r>
            <a:r>
              <a:rPr lang="en-IN" b="1" dirty="0"/>
              <a:t>order performance</a:t>
            </a:r>
            <a:endParaRPr lang="en-IN" dirty="0"/>
          </a:p>
          <a:p>
            <a:pPr>
              <a:buNone/>
            </a:pPr>
            <a:r>
              <a:rPr lang="en-IN" b="1" dirty="0"/>
              <a:t>Key focus:</a:t>
            </a:r>
            <a:r>
              <a:rPr lang="en-IN" dirty="0"/>
              <a:t> Understanding the overall order-status distribution in </a:t>
            </a:r>
            <a:r>
              <a:rPr lang="en-IN" dirty="0" err="1"/>
              <a:t>SwiftCart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7031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35DAF4-6808-CE61-507D-F68DAEE0541B}"/>
              </a:ext>
            </a:extLst>
          </p:cNvPr>
          <p:cNvSpPr txBox="1"/>
          <p:nvPr/>
        </p:nvSpPr>
        <p:spPr>
          <a:xfrm>
            <a:off x="835743" y="737419"/>
            <a:ext cx="9773264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04 — Product, Channel &amp; Regional Analysis</a:t>
            </a:r>
          </a:p>
          <a:p>
            <a:pPr lvl="0"/>
            <a:r>
              <a:rPr lang="en-IN" b="1" dirty="0"/>
              <a:t>Category-wise Sales Analysis</a:t>
            </a:r>
          </a:p>
          <a:p>
            <a:r>
              <a:rPr lang="en-IN" dirty="0"/>
              <a:t>• </a:t>
            </a:r>
            <a:r>
              <a:rPr lang="en-IN" dirty="0" err="1"/>
              <a:t>Analyzed</a:t>
            </a:r>
            <a:r>
              <a:rPr lang="en-IN" dirty="0"/>
              <a:t> sales performance across different </a:t>
            </a:r>
            <a:r>
              <a:rPr lang="en-IN" b="1" dirty="0"/>
              <a:t>product categories</a:t>
            </a:r>
            <a:br>
              <a:rPr lang="en-IN" dirty="0"/>
            </a:br>
            <a:r>
              <a:rPr lang="en-IN" dirty="0"/>
              <a:t>• Compared </a:t>
            </a:r>
            <a:r>
              <a:rPr lang="en-IN" b="1" dirty="0"/>
              <a:t>total sales</a:t>
            </a:r>
            <a:r>
              <a:rPr lang="en-IN" dirty="0"/>
              <a:t> generated by each category</a:t>
            </a:r>
            <a:br>
              <a:rPr lang="en-IN" dirty="0"/>
            </a:br>
            <a:r>
              <a:rPr lang="en-IN" dirty="0"/>
              <a:t>• Identified </a:t>
            </a:r>
            <a:r>
              <a:rPr lang="en-IN" b="1" dirty="0"/>
              <a:t>high-performing categories</a:t>
            </a:r>
            <a:br>
              <a:rPr lang="en-IN" dirty="0"/>
            </a:br>
            <a:r>
              <a:rPr lang="en-IN" dirty="0"/>
              <a:t>• Used a </a:t>
            </a:r>
            <a:r>
              <a:rPr lang="en-IN" b="1" dirty="0"/>
              <a:t>PivotTable</a:t>
            </a:r>
            <a:r>
              <a:rPr lang="en-IN" dirty="0"/>
              <a:t> to summarize category sales</a:t>
            </a:r>
            <a:br>
              <a:rPr lang="en-IN" dirty="0"/>
            </a:br>
            <a:r>
              <a:rPr lang="en-IN" dirty="0"/>
              <a:t>• Created a </a:t>
            </a:r>
            <a:r>
              <a:rPr lang="en-IN" b="1" dirty="0"/>
              <a:t>chart</a:t>
            </a:r>
            <a:r>
              <a:rPr lang="en-IN" dirty="0"/>
              <a:t> to compare category performance</a:t>
            </a:r>
            <a:br>
              <a:rPr lang="en-IN" dirty="0"/>
            </a:br>
            <a:r>
              <a:rPr lang="en-IN" dirty="0"/>
              <a:t>• Studied category contribution to </a:t>
            </a:r>
            <a:r>
              <a:rPr lang="en-IN" b="1" dirty="0"/>
              <a:t>overall sales</a:t>
            </a:r>
            <a:endParaRPr lang="en-IN" dirty="0"/>
          </a:p>
          <a:p>
            <a:r>
              <a:rPr lang="en-IN" b="1" dirty="0"/>
              <a:t>Key focus:</a:t>
            </a:r>
            <a:r>
              <a:rPr lang="en-IN" dirty="0"/>
              <a:t> Understanding which product categories contribute most to </a:t>
            </a:r>
            <a:r>
              <a:rPr lang="en-IN" dirty="0" err="1"/>
              <a:t>SwiftCart</a:t>
            </a:r>
            <a:r>
              <a:rPr lang="en-IN" dirty="0"/>
              <a:t> sales.</a:t>
            </a:r>
          </a:p>
          <a:p>
            <a:endParaRPr lang="en-IN" dirty="0"/>
          </a:p>
          <a:p>
            <a:r>
              <a:rPr lang="en-IN" b="1" dirty="0"/>
              <a:t>Top 10 SKU / Product Analysis</a:t>
            </a:r>
          </a:p>
          <a:p>
            <a:r>
              <a:rPr lang="en-IN" dirty="0"/>
              <a:t>• </a:t>
            </a:r>
            <a:r>
              <a:rPr lang="en-IN" dirty="0" err="1"/>
              <a:t>Analyzed</a:t>
            </a:r>
            <a:r>
              <a:rPr lang="en-IN" dirty="0"/>
              <a:t> sales performance of individual </a:t>
            </a:r>
            <a:r>
              <a:rPr lang="en-IN" b="1" dirty="0"/>
              <a:t>SKUs</a:t>
            </a:r>
            <a:br>
              <a:rPr lang="en-IN" dirty="0"/>
            </a:br>
            <a:r>
              <a:rPr lang="en-IN" dirty="0"/>
              <a:t>• Identified the </a:t>
            </a:r>
            <a:r>
              <a:rPr lang="en-IN" b="1" dirty="0"/>
              <a:t>Top 10 products</a:t>
            </a:r>
            <a:r>
              <a:rPr lang="en-IN" dirty="0"/>
              <a:t> based on sales</a:t>
            </a:r>
            <a:br>
              <a:rPr lang="en-IN" dirty="0"/>
            </a:br>
            <a:r>
              <a:rPr lang="en-IN" dirty="0"/>
              <a:t>• Compared sales contribution of the top-performing SKUs</a:t>
            </a:r>
            <a:br>
              <a:rPr lang="en-IN" dirty="0"/>
            </a:br>
            <a:r>
              <a:rPr lang="en-IN" dirty="0"/>
              <a:t>• Used a </a:t>
            </a:r>
            <a:r>
              <a:rPr lang="en-IN" b="1" dirty="0"/>
              <a:t>PivotTable</a:t>
            </a:r>
            <a:r>
              <a:rPr lang="en-IN" dirty="0"/>
              <a:t> to rank products</a:t>
            </a:r>
            <a:br>
              <a:rPr lang="en-IN" dirty="0"/>
            </a:br>
            <a:r>
              <a:rPr lang="en-IN" dirty="0"/>
              <a:t>• Created a </a:t>
            </a:r>
            <a:r>
              <a:rPr lang="en-IN" b="1" dirty="0"/>
              <a:t>chart</a:t>
            </a:r>
            <a:r>
              <a:rPr lang="en-IN" dirty="0"/>
              <a:t> to visualize Top 10 SKU performance</a:t>
            </a:r>
            <a:br>
              <a:rPr lang="en-IN" dirty="0"/>
            </a:br>
            <a:r>
              <a:rPr lang="en-IN" dirty="0"/>
              <a:t>• Identified products with the </a:t>
            </a:r>
            <a:r>
              <a:rPr lang="en-IN" b="1" dirty="0"/>
              <a:t>highest sales contribution</a:t>
            </a:r>
            <a:endParaRPr lang="en-IN" dirty="0"/>
          </a:p>
          <a:p>
            <a:r>
              <a:rPr lang="en-IN" b="1" dirty="0"/>
              <a:t>Key focus:</a:t>
            </a:r>
            <a:r>
              <a:rPr lang="en-IN" dirty="0"/>
              <a:t> Understanding which individual products drive </a:t>
            </a:r>
            <a:r>
              <a:rPr lang="en-IN" dirty="0" err="1"/>
              <a:t>SwiftCart</a:t>
            </a:r>
            <a:r>
              <a:rPr lang="en-IN" dirty="0"/>
              <a:t> sales.</a:t>
            </a:r>
          </a:p>
          <a:p>
            <a:endParaRPr lang="en-IN" dirty="0"/>
          </a:p>
          <a:p>
            <a:pPr lvl="0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919141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C28FE3-5183-B3F2-0630-20125B12228D}"/>
              </a:ext>
            </a:extLst>
          </p:cNvPr>
          <p:cNvSpPr txBox="1"/>
          <p:nvPr/>
        </p:nvSpPr>
        <p:spPr>
          <a:xfrm>
            <a:off x="943897" y="1012723"/>
            <a:ext cx="820993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Channel-wise Sales Analysis</a:t>
            </a:r>
          </a:p>
          <a:p>
            <a:pPr>
              <a:buNone/>
            </a:pPr>
            <a:r>
              <a:rPr lang="en-IN" dirty="0"/>
              <a:t>• </a:t>
            </a:r>
            <a:r>
              <a:rPr lang="en-IN" dirty="0" err="1"/>
              <a:t>Analyzed</a:t>
            </a:r>
            <a:r>
              <a:rPr lang="en-IN" dirty="0"/>
              <a:t> sales across different </a:t>
            </a:r>
            <a:r>
              <a:rPr lang="en-IN" b="1" dirty="0"/>
              <a:t>sales channels</a:t>
            </a:r>
            <a:br>
              <a:rPr lang="en-IN" dirty="0"/>
            </a:br>
            <a:r>
              <a:rPr lang="en-IN" dirty="0"/>
              <a:t>• Compared </a:t>
            </a:r>
            <a:r>
              <a:rPr lang="en-IN" b="1" dirty="0"/>
              <a:t>total sales</a:t>
            </a:r>
            <a:r>
              <a:rPr lang="en-IN" dirty="0"/>
              <a:t> generated by each channel</a:t>
            </a:r>
            <a:br>
              <a:rPr lang="en-IN" dirty="0"/>
            </a:br>
            <a:r>
              <a:rPr lang="en-IN" dirty="0"/>
              <a:t>• Identified </a:t>
            </a:r>
            <a:r>
              <a:rPr lang="en-IN" b="1" dirty="0"/>
              <a:t>high-performing channels</a:t>
            </a:r>
            <a:br>
              <a:rPr lang="en-IN" dirty="0"/>
            </a:br>
            <a:r>
              <a:rPr lang="en-IN" dirty="0"/>
              <a:t>• Used a </a:t>
            </a:r>
            <a:r>
              <a:rPr lang="en-IN" b="1" dirty="0"/>
              <a:t>PivotTable</a:t>
            </a:r>
            <a:r>
              <a:rPr lang="en-IN" dirty="0"/>
              <a:t> to summarize channel sales</a:t>
            </a:r>
            <a:br>
              <a:rPr lang="en-IN" dirty="0"/>
            </a:br>
            <a:r>
              <a:rPr lang="en-IN" dirty="0"/>
              <a:t>• Created a </a:t>
            </a:r>
            <a:r>
              <a:rPr lang="en-IN" b="1" dirty="0"/>
              <a:t>chart</a:t>
            </a:r>
            <a:r>
              <a:rPr lang="en-IN" dirty="0"/>
              <a:t> to compare channel performance</a:t>
            </a:r>
            <a:br>
              <a:rPr lang="en-IN" dirty="0"/>
            </a:br>
            <a:r>
              <a:rPr lang="en-IN" dirty="0"/>
              <a:t>• Studied each channel’s contribution to </a:t>
            </a:r>
            <a:r>
              <a:rPr lang="en-IN" b="1" dirty="0"/>
              <a:t>overall sales</a:t>
            </a:r>
            <a:endParaRPr lang="en-IN" dirty="0"/>
          </a:p>
          <a:p>
            <a:pPr>
              <a:buNone/>
            </a:pPr>
            <a:r>
              <a:rPr lang="en-IN" b="1" dirty="0"/>
              <a:t>Key focus:</a:t>
            </a:r>
            <a:r>
              <a:rPr lang="en-IN" dirty="0"/>
              <a:t> Understanding which sales channels contribute most to </a:t>
            </a:r>
            <a:r>
              <a:rPr lang="en-IN" dirty="0" err="1"/>
              <a:t>SwiftCart</a:t>
            </a:r>
            <a:r>
              <a:rPr lang="en-IN" dirty="0"/>
              <a:t> revenue.</a:t>
            </a:r>
          </a:p>
          <a:p>
            <a:pPr>
              <a:buNone/>
            </a:pPr>
            <a:endParaRPr lang="en-IN" dirty="0"/>
          </a:p>
          <a:p>
            <a:r>
              <a:rPr lang="en-IN" b="1" dirty="0"/>
              <a:t>State-wise Sales Analysis</a:t>
            </a:r>
          </a:p>
          <a:p>
            <a:r>
              <a:rPr lang="en-IN" dirty="0"/>
              <a:t>• </a:t>
            </a:r>
            <a:r>
              <a:rPr lang="en-IN" dirty="0" err="1"/>
              <a:t>Analyzed</a:t>
            </a:r>
            <a:r>
              <a:rPr lang="en-IN" dirty="0"/>
              <a:t> sales across different </a:t>
            </a:r>
            <a:r>
              <a:rPr lang="en-IN" b="1" dirty="0"/>
              <a:t>states</a:t>
            </a:r>
            <a:br>
              <a:rPr lang="en-IN" dirty="0"/>
            </a:br>
            <a:r>
              <a:rPr lang="en-IN" dirty="0"/>
              <a:t>• Compared </a:t>
            </a:r>
            <a:r>
              <a:rPr lang="en-IN" b="1" dirty="0"/>
              <a:t>total sales</a:t>
            </a:r>
            <a:r>
              <a:rPr lang="en-IN" dirty="0"/>
              <a:t> by state</a:t>
            </a:r>
            <a:br>
              <a:rPr lang="en-IN" dirty="0"/>
            </a:br>
            <a:r>
              <a:rPr lang="en-IN" dirty="0"/>
              <a:t>• Identified </a:t>
            </a:r>
            <a:r>
              <a:rPr lang="en-IN" b="1" dirty="0"/>
              <a:t>high-performing states</a:t>
            </a:r>
            <a:br>
              <a:rPr lang="en-IN" dirty="0"/>
            </a:br>
            <a:r>
              <a:rPr lang="en-IN" dirty="0"/>
              <a:t>• Used a </a:t>
            </a:r>
            <a:r>
              <a:rPr lang="en-IN" b="1" dirty="0"/>
              <a:t>PivotTable</a:t>
            </a:r>
            <a:r>
              <a:rPr lang="en-IN" dirty="0"/>
              <a:t> to summarize state-wise sales</a:t>
            </a:r>
            <a:br>
              <a:rPr lang="en-IN" dirty="0"/>
            </a:br>
            <a:r>
              <a:rPr lang="en-IN" dirty="0"/>
              <a:t>• Created a </a:t>
            </a:r>
            <a:r>
              <a:rPr lang="en-IN" b="1" dirty="0"/>
              <a:t>chart</a:t>
            </a:r>
            <a:r>
              <a:rPr lang="en-IN" dirty="0"/>
              <a:t> to compare state performance</a:t>
            </a:r>
            <a:br>
              <a:rPr lang="en-IN" dirty="0"/>
            </a:br>
            <a:r>
              <a:rPr lang="en-IN" dirty="0"/>
              <a:t>• Studied the contribution of each state to </a:t>
            </a:r>
            <a:r>
              <a:rPr lang="en-IN" b="1" dirty="0"/>
              <a:t>overall sales</a:t>
            </a:r>
            <a:endParaRPr lang="en-IN" dirty="0"/>
          </a:p>
          <a:p>
            <a:r>
              <a:rPr lang="en-IN" b="1" dirty="0"/>
              <a:t>Key focus:</a:t>
            </a:r>
            <a:r>
              <a:rPr lang="en-IN" dirty="0"/>
              <a:t> Understanding the geographical distribution of </a:t>
            </a:r>
            <a:r>
              <a:rPr lang="en-IN" dirty="0" err="1"/>
              <a:t>SwiftCart</a:t>
            </a:r>
            <a:r>
              <a:rPr lang="en-IN" dirty="0"/>
              <a:t> sales.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824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8802F8-8BE2-F53E-1D5F-96EA69545D44}"/>
              </a:ext>
            </a:extLst>
          </p:cNvPr>
          <p:cNvSpPr txBox="1"/>
          <p:nvPr/>
        </p:nvSpPr>
        <p:spPr>
          <a:xfrm>
            <a:off x="924232" y="983227"/>
            <a:ext cx="8229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Regional Performance</a:t>
            </a:r>
          </a:p>
          <a:p>
            <a:pPr>
              <a:buNone/>
            </a:pPr>
            <a:r>
              <a:rPr lang="en-IN" dirty="0"/>
              <a:t>• </a:t>
            </a:r>
            <a:r>
              <a:rPr lang="en-IN" dirty="0" err="1"/>
              <a:t>Analyzed</a:t>
            </a:r>
            <a:r>
              <a:rPr lang="en-IN" dirty="0"/>
              <a:t> sales across different </a:t>
            </a:r>
            <a:r>
              <a:rPr lang="en-IN" b="1" dirty="0"/>
              <a:t>regions</a:t>
            </a:r>
            <a:br>
              <a:rPr lang="en-IN" dirty="0"/>
            </a:br>
            <a:r>
              <a:rPr lang="en-IN" dirty="0"/>
              <a:t>• Compared </a:t>
            </a:r>
            <a:r>
              <a:rPr lang="en-IN" b="1" dirty="0"/>
              <a:t>total sales</a:t>
            </a:r>
            <a:r>
              <a:rPr lang="en-IN" dirty="0"/>
              <a:t> between regions</a:t>
            </a:r>
            <a:br>
              <a:rPr lang="en-IN" dirty="0"/>
            </a:br>
            <a:r>
              <a:rPr lang="en-IN" dirty="0"/>
              <a:t>• Identified regions with </a:t>
            </a:r>
            <a:r>
              <a:rPr lang="en-IN" b="1" dirty="0"/>
              <a:t>higher sales performance</a:t>
            </a:r>
            <a:br>
              <a:rPr lang="en-IN" dirty="0"/>
            </a:br>
            <a:r>
              <a:rPr lang="en-IN" dirty="0"/>
              <a:t>• Used Excel analysis to summarize </a:t>
            </a:r>
            <a:r>
              <a:rPr lang="en-IN" b="1" dirty="0"/>
              <a:t>regional sales</a:t>
            </a:r>
            <a:br>
              <a:rPr lang="en-IN" dirty="0"/>
            </a:br>
            <a:r>
              <a:rPr lang="en-IN" dirty="0"/>
              <a:t>• Created a </a:t>
            </a:r>
            <a:r>
              <a:rPr lang="en-IN" b="1" dirty="0"/>
              <a:t>chart</a:t>
            </a:r>
            <a:r>
              <a:rPr lang="en-IN" dirty="0"/>
              <a:t> to compare regional performance</a:t>
            </a:r>
            <a:br>
              <a:rPr lang="en-IN" dirty="0"/>
            </a:br>
            <a:r>
              <a:rPr lang="en-IN" dirty="0"/>
              <a:t>• Studied regional contribution to </a:t>
            </a:r>
            <a:r>
              <a:rPr lang="en-IN" b="1" dirty="0"/>
              <a:t>overall sales</a:t>
            </a:r>
            <a:endParaRPr lang="en-IN" dirty="0"/>
          </a:p>
          <a:p>
            <a:pPr>
              <a:buNone/>
            </a:pPr>
            <a:r>
              <a:rPr lang="en-IN" b="1" dirty="0"/>
              <a:t>Key focus:</a:t>
            </a:r>
            <a:r>
              <a:rPr lang="en-IN" dirty="0"/>
              <a:t> Understanding </a:t>
            </a:r>
            <a:r>
              <a:rPr lang="en-IN" dirty="0" err="1"/>
              <a:t>SwiftCart</a:t>
            </a:r>
            <a:r>
              <a:rPr lang="en-IN" dirty="0"/>
              <a:t> sales performance across different regions.</a:t>
            </a:r>
          </a:p>
          <a:p>
            <a:pPr>
              <a:buNone/>
            </a:pPr>
            <a:endParaRPr lang="en-IN" dirty="0"/>
          </a:p>
          <a:p>
            <a:r>
              <a:rPr lang="en-IN" b="1" dirty="0"/>
              <a:t>B2B vs Non-B2B Analysis</a:t>
            </a:r>
          </a:p>
          <a:p>
            <a:r>
              <a:rPr lang="en-IN" dirty="0"/>
              <a:t>• Compared sales between </a:t>
            </a:r>
            <a:r>
              <a:rPr lang="en-IN" b="1" dirty="0"/>
              <a:t>B2B and Non-B2B customers</a:t>
            </a:r>
            <a:br>
              <a:rPr lang="en-IN" dirty="0"/>
            </a:br>
            <a:r>
              <a:rPr lang="en-IN" dirty="0"/>
              <a:t>• </a:t>
            </a:r>
            <a:r>
              <a:rPr lang="en-IN" dirty="0" err="1"/>
              <a:t>Analyzed</a:t>
            </a:r>
            <a:r>
              <a:rPr lang="en-IN" dirty="0"/>
              <a:t> the </a:t>
            </a:r>
            <a:r>
              <a:rPr lang="en-IN" b="1" dirty="0"/>
              <a:t>total sales</a:t>
            </a:r>
            <a:r>
              <a:rPr lang="en-IN" dirty="0"/>
              <a:t> generated by each segment</a:t>
            </a:r>
            <a:br>
              <a:rPr lang="en-IN" dirty="0"/>
            </a:br>
            <a:r>
              <a:rPr lang="en-IN" dirty="0"/>
              <a:t>• Identified the segment contributing more to </a:t>
            </a:r>
            <a:r>
              <a:rPr lang="en-IN" b="1" dirty="0"/>
              <a:t>overall sales</a:t>
            </a:r>
            <a:br>
              <a:rPr lang="en-IN" dirty="0"/>
            </a:br>
            <a:r>
              <a:rPr lang="en-IN" dirty="0"/>
              <a:t>• Used a </a:t>
            </a:r>
            <a:r>
              <a:rPr lang="en-IN" b="1" dirty="0"/>
              <a:t>PivotTable</a:t>
            </a:r>
            <a:r>
              <a:rPr lang="en-IN" dirty="0"/>
              <a:t> for segment-wise comparison</a:t>
            </a:r>
            <a:br>
              <a:rPr lang="en-IN" dirty="0"/>
            </a:br>
            <a:r>
              <a:rPr lang="en-IN" dirty="0"/>
              <a:t>• Created a </a:t>
            </a:r>
            <a:r>
              <a:rPr lang="en-IN" b="1" dirty="0"/>
              <a:t>chart</a:t>
            </a:r>
            <a:r>
              <a:rPr lang="en-IN" dirty="0"/>
              <a:t> to visualize B2B vs Non-B2B sales</a:t>
            </a:r>
            <a:br>
              <a:rPr lang="en-IN" dirty="0"/>
            </a:br>
            <a:r>
              <a:rPr lang="en-IN" dirty="0"/>
              <a:t>• Studied the difference in </a:t>
            </a:r>
            <a:r>
              <a:rPr lang="en-IN" b="1" dirty="0"/>
              <a:t>customer segment performance</a:t>
            </a:r>
            <a:endParaRPr lang="en-IN" dirty="0"/>
          </a:p>
          <a:p>
            <a:r>
              <a:rPr lang="en-IN" b="1" dirty="0"/>
              <a:t>Key focus:</a:t>
            </a:r>
            <a:r>
              <a:rPr lang="en-IN" dirty="0"/>
              <a:t> Understanding sales contribution from B2B and Non-B2B customers.</a:t>
            </a:r>
          </a:p>
          <a:p>
            <a:pPr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18858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06E67B-C036-F8FF-8C0D-6F141E988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61" y="1435058"/>
            <a:ext cx="8563895" cy="44741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A6B31F-36AA-8D1F-D58E-89AEB19964A8}"/>
              </a:ext>
            </a:extLst>
          </p:cNvPr>
          <p:cNvSpPr txBox="1"/>
          <p:nvPr/>
        </p:nvSpPr>
        <p:spPr>
          <a:xfrm>
            <a:off x="816078" y="776748"/>
            <a:ext cx="80624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 err="1"/>
              <a:t>SwiftCart</a:t>
            </a:r>
            <a:r>
              <a:rPr lang="en-IN" sz="2400" b="1" dirty="0"/>
              <a:t> Dashboard</a:t>
            </a:r>
          </a:p>
        </p:txBody>
      </p:sp>
    </p:spTree>
    <p:extLst>
      <p:ext uri="{BB962C8B-B14F-4D97-AF65-F5344CB8AC3E}">
        <p14:creationId xmlns:p14="http://schemas.microsoft.com/office/powerpoint/2010/main" val="2918012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2CA1B2-3E1A-DE51-BC0A-5E07EC9AA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452" y="3429000"/>
            <a:ext cx="10372766" cy="27765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0E358D-2F69-CE3B-E4AB-21DD1487C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176" y="652487"/>
            <a:ext cx="10293585" cy="308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759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448395-C826-EA33-2E90-CB8C88A0F7FD}"/>
              </a:ext>
            </a:extLst>
          </p:cNvPr>
          <p:cNvSpPr txBox="1"/>
          <p:nvPr/>
        </p:nvSpPr>
        <p:spPr>
          <a:xfrm>
            <a:off x="1032387" y="1317523"/>
            <a:ext cx="8121445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Dashboard Components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• </a:t>
            </a:r>
            <a:r>
              <a:rPr lang="en-IN" b="1" dirty="0"/>
              <a:t>KPI Cards</a:t>
            </a:r>
            <a:r>
              <a:rPr lang="en-IN" dirty="0"/>
              <a:t> – Quick view of key performance metrics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Monthly Sales Chart</a:t>
            </a:r>
            <a:r>
              <a:rPr lang="en-IN" dirty="0"/>
              <a:t> – Shows sales movement over time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Category Analysis</a:t>
            </a:r>
            <a:r>
              <a:rPr lang="en-IN" dirty="0"/>
              <a:t> – Compares category-wise sales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Channel Analysis</a:t>
            </a:r>
            <a:r>
              <a:rPr lang="en-IN" dirty="0"/>
              <a:t> – Compares sales channels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Regional Analysis</a:t>
            </a:r>
            <a:r>
              <a:rPr lang="en-IN" dirty="0"/>
              <a:t> – Shows geographical sales performance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Top 10 SKU Chart</a:t>
            </a:r>
            <a:r>
              <a:rPr lang="en-IN" dirty="0"/>
              <a:t> – Highlights best-performing products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B2B vs Non-B2B</a:t>
            </a:r>
            <a:r>
              <a:rPr lang="en-IN" dirty="0"/>
              <a:t> – Compares customer segments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Key focus:</a:t>
            </a:r>
            <a:r>
              <a:rPr lang="en-IN" dirty="0"/>
              <a:t> Bringing the major analysis results together for quick decision-making.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7805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08323B-E24B-E248-2A7E-AAA9BFB8DB0A}"/>
              </a:ext>
            </a:extLst>
          </p:cNvPr>
          <p:cNvSpPr txBox="1"/>
          <p:nvPr/>
        </p:nvSpPr>
        <p:spPr>
          <a:xfrm>
            <a:off x="1061884" y="1229032"/>
            <a:ext cx="8091948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Key Business Insights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• </a:t>
            </a:r>
            <a:r>
              <a:rPr lang="en-IN" b="1" dirty="0"/>
              <a:t>Sales Performance:</a:t>
            </a:r>
            <a:r>
              <a:rPr lang="en-IN" dirty="0"/>
              <a:t> Overall sales performance was </a:t>
            </a:r>
            <a:r>
              <a:rPr lang="en-IN" dirty="0" err="1"/>
              <a:t>analyzed</a:t>
            </a:r>
            <a:r>
              <a:rPr lang="en-IN" dirty="0"/>
              <a:t> across the dataset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Product Performance:</a:t>
            </a:r>
            <a:r>
              <a:rPr lang="en-IN" dirty="0"/>
              <a:t> Top categories and SKUs contribute significantly to sales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Customer Performance:</a:t>
            </a:r>
            <a:r>
              <a:rPr lang="en-IN" dirty="0"/>
              <a:t> Customer-level analysis identifies high-value customers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Channel Performance:</a:t>
            </a:r>
            <a:r>
              <a:rPr lang="en-IN" dirty="0"/>
              <a:t> Sales contribution varies across different channels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Regional Performance:</a:t>
            </a:r>
            <a:r>
              <a:rPr lang="en-IN" dirty="0"/>
              <a:t> Sales differ across states and regions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Customer Segments:</a:t>
            </a:r>
            <a:r>
              <a:rPr lang="en-IN" dirty="0"/>
              <a:t> B2B and Non-B2B segments show different sales contributions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Sales Trend:</a:t>
            </a:r>
            <a:r>
              <a:rPr lang="en-IN" dirty="0"/>
              <a:t> Monthly analysis highlights changes in sales over time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Key focus:</a:t>
            </a:r>
            <a:r>
              <a:rPr lang="en-IN" dirty="0"/>
              <a:t> Converting Excel analysis into meaningful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3201768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EAA75A-329E-E84B-EE1D-398A134A71A2}"/>
              </a:ext>
            </a:extLst>
          </p:cNvPr>
          <p:cNvSpPr txBox="1"/>
          <p:nvPr/>
        </p:nvSpPr>
        <p:spPr>
          <a:xfrm>
            <a:off x="1002890" y="1170039"/>
            <a:ext cx="8150942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Business Recommendations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• Focus on </a:t>
            </a:r>
            <a:r>
              <a:rPr lang="en-IN" b="1" dirty="0"/>
              <a:t>high-performing categories and products</a:t>
            </a:r>
            <a:r>
              <a:rPr lang="en-IN" dirty="0"/>
              <a:t> to maintain sales momentum</a:t>
            </a:r>
            <a:br>
              <a:rPr lang="en-IN" dirty="0"/>
            </a:br>
            <a:r>
              <a:rPr lang="en-IN" dirty="0"/>
              <a:t>• Monitor </a:t>
            </a:r>
            <a:r>
              <a:rPr lang="en-IN" b="1" dirty="0"/>
              <a:t>monthly sales trends</a:t>
            </a:r>
            <a:r>
              <a:rPr lang="en-IN" dirty="0"/>
              <a:t> to identify changes in demand</a:t>
            </a:r>
            <a:br>
              <a:rPr lang="en-IN" dirty="0"/>
            </a:br>
            <a:r>
              <a:rPr lang="en-IN" dirty="0"/>
              <a:t>• Strengthen channels that generate </a:t>
            </a:r>
            <a:r>
              <a:rPr lang="en-IN" b="1" dirty="0"/>
              <a:t>higher sales contribution</a:t>
            </a:r>
            <a:br>
              <a:rPr lang="en-IN" dirty="0"/>
            </a:br>
            <a:r>
              <a:rPr lang="en-IN" dirty="0"/>
              <a:t>• Review </a:t>
            </a:r>
            <a:r>
              <a:rPr lang="en-IN" b="1" dirty="0"/>
              <a:t>regional performance</a:t>
            </a:r>
            <a:r>
              <a:rPr lang="en-IN" dirty="0"/>
              <a:t> and identify opportunities in lower-performing regions</a:t>
            </a:r>
            <a:br>
              <a:rPr lang="en-IN" dirty="0"/>
            </a:br>
            <a:r>
              <a:rPr lang="en-IN" dirty="0"/>
              <a:t>• Build strategies to </a:t>
            </a:r>
            <a:r>
              <a:rPr lang="en-IN" b="1" dirty="0"/>
              <a:t>retain high-value customers</a:t>
            </a:r>
            <a:br>
              <a:rPr lang="en-IN" dirty="0"/>
            </a:br>
            <a:r>
              <a:rPr lang="en-IN" dirty="0"/>
              <a:t>• Monitor </a:t>
            </a:r>
            <a:r>
              <a:rPr lang="en-IN" b="1" dirty="0"/>
              <a:t>B2B and Non-B2B segments</a:t>
            </a:r>
            <a:r>
              <a:rPr lang="en-IN" dirty="0"/>
              <a:t> separately</a:t>
            </a:r>
            <a:br>
              <a:rPr lang="en-IN" dirty="0"/>
            </a:br>
            <a:r>
              <a:rPr lang="en-IN" dirty="0"/>
              <a:t>• Track </a:t>
            </a:r>
            <a:r>
              <a:rPr lang="en-IN" b="1" dirty="0"/>
              <a:t>order-status performance</a:t>
            </a:r>
            <a:r>
              <a:rPr lang="en-IN" dirty="0"/>
              <a:t> to reduce unsuccessful orders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Key focus:</a:t>
            </a:r>
            <a:r>
              <a:rPr lang="en-IN" dirty="0"/>
              <a:t> Use the analysis to support better sales, customer and operational decisions.</a:t>
            </a:r>
          </a:p>
        </p:txBody>
      </p:sp>
    </p:spTree>
    <p:extLst>
      <p:ext uri="{BB962C8B-B14F-4D97-AF65-F5344CB8AC3E}">
        <p14:creationId xmlns:p14="http://schemas.microsoft.com/office/powerpoint/2010/main" val="2051648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4909B9-1720-D532-A131-7A9FFD4B74C2}"/>
              </a:ext>
            </a:extLst>
          </p:cNvPr>
          <p:cNvSpPr txBox="1"/>
          <p:nvPr/>
        </p:nvSpPr>
        <p:spPr>
          <a:xfrm>
            <a:off x="1071716" y="1199535"/>
            <a:ext cx="808211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Project Summary &amp; Deliverables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• </a:t>
            </a:r>
            <a:r>
              <a:rPr lang="en-IN" b="1" dirty="0"/>
              <a:t>Data Preparation</a:t>
            </a:r>
            <a:r>
              <a:rPr lang="en-IN" dirty="0"/>
              <a:t> – Cleaned and prepared the </a:t>
            </a:r>
            <a:r>
              <a:rPr lang="en-IN" dirty="0" err="1"/>
              <a:t>SwiftCart</a:t>
            </a:r>
            <a:r>
              <a:rPr lang="en-IN" dirty="0"/>
              <a:t> dataset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Excel Analysis</a:t>
            </a:r>
            <a:r>
              <a:rPr lang="en-IN" dirty="0"/>
              <a:t> – Used formulas and calculations for analysis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PivotTable Analysis</a:t>
            </a:r>
            <a:r>
              <a:rPr lang="en-IN" dirty="0"/>
              <a:t> – </a:t>
            </a:r>
            <a:r>
              <a:rPr lang="en-IN" dirty="0" err="1"/>
              <a:t>Analyzed</a:t>
            </a:r>
            <a:r>
              <a:rPr lang="en-IN" dirty="0"/>
              <a:t> sales, customers, products and regions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Data Visualization</a:t>
            </a:r>
            <a:r>
              <a:rPr lang="en-IN" dirty="0"/>
              <a:t> – Created charts to identify important patterns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Dashboard</a:t>
            </a:r>
            <a:r>
              <a:rPr lang="en-IN" dirty="0"/>
              <a:t> – Combined key KPIs and visuals into one view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Business Insights</a:t>
            </a:r>
            <a:r>
              <a:rPr lang="en-IN" dirty="0"/>
              <a:t> – Identified important sales and customer patterns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Recommendations</a:t>
            </a:r>
            <a:r>
              <a:rPr lang="en-IN" dirty="0"/>
              <a:t> – Suggested actions based on the analysis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Key focus:</a:t>
            </a:r>
            <a:r>
              <a:rPr lang="en-IN" dirty="0"/>
              <a:t> Complete end-to-end e-commerce data analysis using </a:t>
            </a:r>
            <a:r>
              <a:rPr lang="en-IN" b="1" dirty="0"/>
              <a:t>Microsoft Excel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481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20E110-591D-8355-7826-2F867EE7EC6B}"/>
              </a:ext>
            </a:extLst>
          </p:cNvPr>
          <p:cNvSpPr txBox="1"/>
          <p:nvPr/>
        </p:nvSpPr>
        <p:spPr>
          <a:xfrm>
            <a:off x="1081548" y="1238866"/>
            <a:ext cx="807228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Conclusion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sz="2000" dirty="0"/>
              <a:t>• </a:t>
            </a:r>
            <a:r>
              <a:rPr lang="en-IN" sz="2000" dirty="0" err="1"/>
              <a:t>SwiftCart</a:t>
            </a:r>
            <a:r>
              <a:rPr lang="en-IN" sz="2000" dirty="0"/>
              <a:t> data was successfully </a:t>
            </a:r>
            <a:r>
              <a:rPr lang="en-IN" sz="2000" dirty="0" err="1"/>
              <a:t>analyzed</a:t>
            </a:r>
            <a:r>
              <a:rPr lang="en-IN" sz="2000" dirty="0"/>
              <a:t> using </a:t>
            </a:r>
            <a:r>
              <a:rPr lang="en-IN" sz="2000" b="1" dirty="0"/>
              <a:t>Microsoft Excel</a:t>
            </a:r>
            <a:br>
              <a:rPr lang="en-IN" sz="2000" dirty="0"/>
            </a:br>
            <a:r>
              <a:rPr lang="en-IN" sz="2000" dirty="0"/>
              <a:t>• The project covered </a:t>
            </a:r>
            <a:r>
              <a:rPr lang="en-IN" sz="2000" b="1" dirty="0"/>
              <a:t>sales, customers, products, channels and regions</a:t>
            </a:r>
            <a:br>
              <a:rPr lang="en-IN" sz="2000" dirty="0"/>
            </a:br>
            <a:r>
              <a:rPr lang="en-IN" sz="2000" dirty="0"/>
              <a:t>• </a:t>
            </a:r>
            <a:r>
              <a:rPr lang="en-IN" sz="2000" b="1" dirty="0"/>
              <a:t>PivotTables and charts</a:t>
            </a:r>
            <a:r>
              <a:rPr lang="en-IN" sz="2000" dirty="0"/>
              <a:t> helped identify important patterns</a:t>
            </a:r>
            <a:br>
              <a:rPr lang="en-IN" sz="2000" dirty="0"/>
            </a:br>
            <a:r>
              <a:rPr lang="en-IN" sz="2000" dirty="0"/>
              <a:t>• The </a:t>
            </a:r>
            <a:r>
              <a:rPr lang="en-IN" sz="2000" b="1" dirty="0"/>
              <a:t>Dashboard</a:t>
            </a:r>
            <a:r>
              <a:rPr lang="en-IN" sz="2000" dirty="0"/>
              <a:t> provides a clear summary of business performance</a:t>
            </a:r>
            <a:br>
              <a:rPr lang="en-IN" sz="2000" dirty="0"/>
            </a:br>
            <a:r>
              <a:rPr lang="en-IN" sz="2000" dirty="0"/>
              <a:t>• The analysis supports </a:t>
            </a:r>
            <a:r>
              <a:rPr lang="en-IN" sz="2000" b="1" dirty="0"/>
              <a:t>data-driven business decisions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Raw Data → Excel Analysis → Dashboard → Business Insights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223348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CD0467-AF93-9768-A391-A38A651B75CC}"/>
              </a:ext>
            </a:extLst>
          </p:cNvPr>
          <p:cNvSpPr txBox="1"/>
          <p:nvPr/>
        </p:nvSpPr>
        <p:spPr>
          <a:xfrm>
            <a:off x="3038168" y="3246792"/>
            <a:ext cx="611566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452819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75</TotalTime>
  <Words>1521</Words>
  <Application>Microsoft Office PowerPoint</Application>
  <PresentationFormat>Widescreen</PresentationFormat>
  <Paragraphs>133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Garamond</vt:lpstr>
      <vt:lpstr>Organic</vt:lpstr>
      <vt:lpstr>   SwiftCart – E-Commerce Sales Analytics | Excel Dashboard &amp;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praharshithasamudrala788@gmail.com</dc:creator>
  <cp:lastModifiedBy>praharshithasamudrala788@gmail.com</cp:lastModifiedBy>
  <cp:revision>1</cp:revision>
  <dcterms:created xsi:type="dcterms:W3CDTF">2026-09-24T08:12:49Z</dcterms:created>
  <dcterms:modified xsi:type="dcterms:W3CDTF">2026-09-24T09:28:24Z</dcterms:modified>
</cp:coreProperties>
</file>